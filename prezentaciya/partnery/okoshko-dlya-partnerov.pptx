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Начало" id="{ddcd865d-88cd-b70e-530a-114834b8d8a9}">
          <p14:sldIdLst>
            <p14:sldId id="256"/>
          </p14:sldIdLst>
        </p14:section>
        <p14:section name="Проблема и решение" id="{81b31bdd-26d2-c03a-febf-8edebf841abe}">
          <p14:sldIdLst>
            <p14:sldId id="257"/>
            <p14:sldId id="258"/>
            <p14:sldId id="259"/>
          </p14:sldIdLst>
        </p14:section>
        <p14:section name="Рынок и рост" id="{10f49a7c-820d-bbd0-66f4-781e5e1d7234}">
          <p14:sldIdLst>
            <p14:sldId id="260"/>
            <p14:sldId id="261"/>
            <p14:sldId id="262"/>
            <p14:sldId id="263"/>
            <p14:sldId id="264"/>
          </p14:sldIdLst>
        </p14:section>
        <p14:section name="Партнёрство" id="{c21b92e1-338b-8103-f0d7-983f4f3d7ae2}">
          <p14:sldIdLst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Платящие клиенты</c:v>
                </c:pt>
              </c:strCache>
            </c:strRef>
          </c:tx>
          <c:spPr>
            <a:solidFill>
              <a:srgbClr val="2F6BFF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E1E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I кв. 25</c:v>
                  </c:pt>
                  <c:pt idx="1">
                    <c:v>II кв. 25</c:v>
                  </c:pt>
                  <c:pt idx="2">
                    <c:v>III кв. 25</c:v>
                  </c:pt>
                  <c:pt idx="3">
                    <c:v>IV кв. 25</c:v>
                  </c:pt>
                  <c:pt idx="4">
                    <c:v>I кв. 26</c:v>
                  </c:pt>
                  <c:pt idx="5">
                    <c:v>II кв. 26</c:v>
                  </c:pt>
                  <c:pt idx="6">
                    <c:v>III кв. 26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40</c:v>
                </c:pt>
                <c:pt idx="1">
                  <c:v>95</c:v>
                </c:pt>
                <c:pt idx="2">
                  <c:v>180</c:v>
                </c:pt>
                <c:pt idx="3">
                  <c:v>310</c:v>
                </c:pt>
                <c:pt idx="4">
                  <c:v>520</c:v>
                </c:pt>
                <c:pt idx="5">
                  <c:v>780</c:v>
                </c:pt>
                <c:pt idx="6">
                  <c:v>1100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100" u="none">
                  <a:solidFill>
                    <a:srgbClr val="0E1E3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57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Добрый день! Мы — Окошко, сервис онлайн-записи для мастеров и небольших студий. За 15 минут расскажу, какую проблему решаем, как растём и что предлагаем партнёрам.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 цифры из опроса мастеров. Главная мысль: клиент уже хотел прийти, но его потеряли на этапе записи — это самые дорогие потери.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 шага вместо звонков. Отдельно обращу внимание: почти треть записей приходит ночью и в выходные — раньше эти клиенты уходили к конкурентам.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Ядро — расписание. Вокруг него модули: напоминания, календарь, предоплата и отчёты. Для партнёров важно, что каждый модуль доступен по API.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Общий рынок — почти полмиллиона мастеров. Мы целимся в крупные города, где запись уже идёт через соцсети: там продукт понятен без объяснений.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График — настоящая диаграмма PowerPoint: цифры можно заменить в таблице данных. Рост в основном органический, через рекомендации мастеров друг другу.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Бесплатный тариф — вход в воронку. Основная масса платит за «Мастера»: напоминания окупаются уже с первой спасённой записи.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Крупные CRM дают всё, но дорого и долго внедряются. Переписка бесплатна, но съедает время. Мы — посередине: быстро, просто и недорого.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Четыре цифры, которые обычно спрашивают партнёры: выручка, удержание, окупаемость привлечения и оценка пользователей.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Ближайший шаг — оплата через СБП. Главное для партнёров — открытый API: ранний доступ дадим тем, кто начнёт пилот сейчас.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 формата, можно комбинировать. Чаще всего начинают с реферальной программы — она ничего не стоит партнёру и запускается за день.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Предлагаю начать с короткого звонка. Если формат подойдёт — запустим бесплатный пилот на ваших клиентах и по его итогам зафиксируем условия. Спасибо!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итульный">
    <p:bg>
      <p:bgPr>
        <a:solidFill>
          <a:srgbClr val="0E1E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493776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chemeClr val="bg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017520"/>
            <a:ext cx="49377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A9B8D6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онтент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1E3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987552"/>
            <a:ext cx="502920" cy="45720"/>
          </a:xfrm>
          <a:prstGeom prst="rect">
            <a:avLst/>
          </a:prstGeom>
          <a:solidFill>
            <a:srgbClr val="2F6BF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7"/>
                </a:solidFill>
              </a:rPr>
              <a:t>Окошко · для партнёров · демо: компания и цифры вымышлены</a:t>
            </a:r>
            <a:endParaRPr lang="en-US" sz="9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457200" y="274320"/>
            <a:ext cx="804672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dirty="0">
                <a:solidFill>
                  <a:schemeClr val="tx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ёмный финал">
    <p:bg>
      <p:bgPr>
        <a:solidFill>
          <a:srgbClr val="0E1E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48640"/>
            <a:ext cx="8046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dirty="0">
                <a:solidFill>
                  <a:schemeClr val="bg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600" dirty="0">
                <a:solidFill>
                  <a:schemeClr val="bg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Окошко — онлайн-запись для малого бизнеса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01752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A9B8D6"/>
                </a:solidFill>
              </a:rPr>
              <a:t>Презентация для партнёров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06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8D6"/>
                </a:solidFill>
              </a:rPr>
              <a:t>Москва · 2026</a:t>
            </a:r>
            <a:endParaRPr lang="en-US" sz="1300" dirty="0"/>
          </a:p>
        </p:txBody>
      </p:sp>
      <p:sp>
        <p:nvSpPr>
          <p:cNvPr id="5" name="Окошко 1-1"/>
          <p:cNvSpPr/>
          <p:nvPr/>
        </p:nvSpPr>
        <p:spPr>
          <a:xfrm>
            <a:off x="5989320" y="914400"/>
            <a:ext cx="585216" cy="585216"/>
          </a:xfrm>
          <a:prstGeom prst="roundRect">
            <a:avLst>
              <a:gd name="adj" fmla="val 15625"/>
            </a:avLst>
          </a:prstGeom>
          <a:solidFill>
            <a:srgbClr val="1C3157"/>
          </a:solidFill>
          <a:ln w="12700">
            <a:solidFill>
              <a:srgbClr val="1C3157"/>
            </a:solidFill>
            <a:prstDash val="solid"/>
          </a:ln>
        </p:spPr>
      </p:sp>
      <p:sp>
        <p:nvSpPr>
          <p:cNvPr id="6" name="Окошко 1-2"/>
          <p:cNvSpPr/>
          <p:nvPr/>
        </p:nvSpPr>
        <p:spPr>
          <a:xfrm>
            <a:off x="6702552" y="914400"/>
            <a:ext cx="585216" cy="585216"/>
          </a:xfrm>
          <a:prstGeom prst="roundRect">
            <a:avLst>
              <a:gd name="adj" fmla="val 15625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7" name="Окошко 1-3"/>
          <p:cNvSpPr/>
          <p:nvPr/>
        </p:nvSpPr>
        <p:spPr>
          <a:xfrm>
            <a:off x="7415784" y="914400"/>
            <a:ext cx="585216" cy="585216"/>
          </a:xfrm>
          <a:prstGeom prst="roundRect">
            <a:avLst>
              <a:gd name="adj" fmla="val 15625"/>
            </a:avLst>
          </a:prstGeom>
          <a:solidFill>
            <a:srgbClr val="1C3157"/>
          </a:solidFill>
          <a:ln w="12700">
            <a:solidFill>
              <a:srgbClr val="1C3157"/>
            </a:solidFill>
            <a:prstDash val="solid"/>
          </a:ln>
        </p:spPr>
      </p:sp>
      <p:sp>
        <p:nvSpPr>
          <p:cNvPr id="8" name="Окошко 1-4"/>
          <p:cNvSpPr/>
          <p:nvPr/>
        </p:nvSpPr>
        <p:spPr>
          <a:xfrm>
            <a:off x="8129016" y="914400"/>
            <a:ext cx="585216" cy="585216"/>
          </a:xfrm>
          <a:prstGeom prst="roundRect">
            <a:avLst>
              <a:gd name="adj" fmla="val 15625"/>
            </a:avLst>
          </a:prstGeom>
          <a:solidFill>
            <a:srgbClr val="1C3157"/>
          </a:solidFill>
          <a:ln w="12700">
            <a:solidFill>
              <a:srgbClr val="1C3157"/>
            </a:solidFill>
            <a:prstDash val="solid"/>
          </a:ln>
        </p:spPr>
      </p:sp>
      <p:sp>
        <p:nvSpPr>
          <p:cNvPr id="9" name="Окошко 2-1"/>
          <p:cNvSpPr/>
          <p:nvPr/>
        </p:nvSpPr>
        <p:spPr>
          <a:xfrm>
            <a:off x="5989320" y="1627632"/>
            <a:ext cx="585216" cy="585216"/>
          </a:xfrm>
          <a:prstGeom prst="roundRect">
            <a:avLst>
              <a:gd name="adj" fmla="val 15625"/>
            </a:avLst>
          </a:prstGeom>
          <a:solidFill>
            <a:srgbClr val="1C3157"/>
          </a:solidFill>
          <a:ln w="12700">
            <a:solidFill>
              <a:srgbClr val="1C3157"/>
            </a:solidFill>
            <a:prstDash val="solid"/>
          </a:ln>
        </p:spPr>
      </p:sp>
      <p:sp>
        <p:nvSpPr>
          <p:cNvPr id="10" name="Окошко 2-2"/>
          <p:cNvSpPr/>
          <p:nvPr/>
        </p:nvSpPr>
        <p:spPr>
          <a:xfrm>
            <a:off x="6702552" y="1627632"/>
            <a:ext cx="585216" cy="585216"/>
          </a:xfrm>
          <a:prstGeom prst="roundRect">
            <a:avLst>
              <a:gd name="adj" fmla="val 15625"/>
            </a:avLst>
          </a:prstGeom>
          <a:solidFill>
            <a:srgbClr val="1C3157"/>
          </a:solidFill>
          <a:ln w="12700">
            <a:solidFill>
              <a:srgbClr val="1C3157"/>
            </a:solidFill>
            <a:prstDash val="solid"/>
          </a:ln>
        </p:spPr>
      </p:sp>
      <p:sp>
        <p:nvSpPr>
          <p:cNvPr id="11" name="Окошко 2-3"/>
          <p:cNvSpPr/>
          <p:nvPr/>
        </p:nvSpPr>
        <p:spPr>
          <a:xfrm>
            <a:off x="7415784" y="1627632"/>
            <a:ext cx="585216" cy="585216"/>
          </a:xfrm>
          <a:prstGeom prst="roundRect">
            <a:avLst>
              <a:gd name="adj" fmla="val 15625"/>
            </a:avLst>
          </a:prstGeom>
          <a:solidFill>
            <a:srgbClr val="1C3157"/>
          </a:solidFill>
          <a:ln w="12700">
            <a:solidFill>
              <a:srgbClr val="1C3157"/>
            </a:solidFill>
            <a:prstDash val="solid"/>
          </a:ln>
        </p:spPr>
      </p:sp>
      <p:sp>
        <p:nvSpPr>
          <p:cNvPr id="12" name="Окошко 2-4"/>
          <p:cNvSpPr/>
          <p:nvPr/>
        </p:nvSpPr>
        <p:spPr>
          <a:xfrm>
            <a:off x="8129016" y="1627632"/>
            <a:ext cx="585216" cy="585216"/>
          </a:xfrm>
          <a:prstGeom prst="roundRect">
            <a:avLst>
              <a:gd name="adj" fmla="val 15625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3" name="Окошко 3-1"/>
          <p:cNvSpPr/>
          <p:nvPr/>
        </p:nvSpPr>
        <p:spPr>
          <a:xfrm>
            <a:off x="5989320" y="2340864"/>
            <a:ext cx="585216" cy="585216"/>
          </a:xfrm>
          <a:prstGeom prst="roundRect">
            <a:avLst>
              <a:gd name="adj" fmla="val 15625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4" name="Окошко 3-2"/>
          <p:cNvSpPr/>
          <p:nvPr/>
        </p:nvSpPr>
        <p:spPr>
          <a:xfrm>
            <a:off x="6702552" y="2340864"/>
            <a:ext cx="585216" cy="585216"/>
          </a:xfrm>
          <a:prstGeom prst="roundRect">
            <a:avLst>
              <a:gd name="adj" fmla="val 15625"/>
            </a:avLst>
          </a:prstGeom>
          <a:solidFill>
            <a:srgbClr val="1C3157"/>
          </a:solidFill>
          <a:ln w="12700">
            <a:solidFill>
              <a:srgbClr val="1C3157"/>
            </a:solidFill>
            <a:prstDash val="solid"/>
          </a:ln>
        </p:spPr>
      </p:sp>
      <p:sp>
        <p:nvSpPr>
          <p:cNvPr id="15" name="Окошко 3-3"/>
          <p:cNvSpPr/>
          <p:nvPr/>
        </p:nvSpPr>
        <p:spPr>
          <a:xfrm>
            <a:off x="7415784" y="2340864"/>
            <a:ext cx="585216" cy="585216"/>
          </a:xfrm>
          <a:prstGeom prst="roundRect">
            <a:avLst>
              <a:gd name="adj" fmla="val 15625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6" name="Окошко 3-4"/>
          <p:cNvSpPr/>
          <p:nvPr/>
        </p:nvSpPr>
        <p:spPr>
          <a:xfrm>
            <a:off x="8129016" y="2340864"/>
            <a:ext cx="585216" cy="585216"/>
          </a:xfrm>
          <a:prstGeom prst="roundRect">
            <a:avLst>
              <a:gd name="adj" fmla="val 15625"/>
            </a:avLst>
          </a:prstGeom>
          <a:solidFill>
            <a:srgbClr val="1C3157"/>
          </a:solidFill>
          <a:ln w="12700">
            <a:solidFill>
              <a:srgbClr val="1C3157"/>
            </a:solidFill>
            <a:prstDash val="solid"/>
          </a:ln>
        </p:spPr>
      </p:sp>
      <p:sp>
        <p:nvSpPr>
          <p:cNvPr id="17" name="Окошко 4-1"/>
          <p:cNvSpPr/>
          <p:nvPr/>
        </p:nvSpPr>
        <p:spPr>
          <a:xfrm>
            <a:off x="5989320" y="3054096"/>
            <a:ext cx="585216" cy="585216"/>
          </a:xfrm>
          <a:prstGeom prst="roundRect">
            <a:avLst>
              <a:gd name="adj" fmla="val 15625"/>
            </a:avLst>
          </a:prstGeom>
          <a:solidFill>
            <a:srgbClr val="1C3157"/>
          </a:solidFill>
          <a:ln w="12700">
            <a:solidFill>
              <a:srgbClr val="1C3157"/>
            </a:solidFill>
            <a:prstDash val="solid"/>
          </a:ln>
        </p:spPr>
      </p:sp>
      <p:sp>
        <p:nvSpPr>
          <p:cNvPr id="18" name="Окошко 4-2"/>
          <p:cNvSpPr/>
          <p:nvPr/>
        </p:nvSpPr>
        <p:spPr>
          <a:xfrm>
            <a:off x="6702552" y="3054096"/>
            <a:ext cx="585216" cy="585216"/>
          </a:xfrm>
          <a:prstGeom prst="roundRect">
            <a:avLst>
              <a:gd name="adj" fmla="val 15625"/>
            </a:avLst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9" name="Окошко 4-3"/>
          <p:cNvSpPr/>
          <p:nvPr/>
        </p:nvSpPr>
        <p:spPr>
          <a:xfrm>
            <a:off x="7415784" y="3054096"/>
            <a:ext cx="585216" cy="585216"/>
          </a:xfrm>
          <a:prstGeom prst="roundRect">
            <a:avLst>
              <a:gd name="adj" fmla="val 15625"/>
            </a:avLst>
          </a:prstGeom>
          <a:solidFill>
            <a:srgbClr val="1C3157"/>
          </a:solidFill>
          <a:ln w="12700">
            <a:solidFill>
              <a:srgbClr val="1C3157"/>
            </a:solidFill>
            <a:prstDash val="solid"/>
          </a:ln>
        </p:spPr>
      </p:sp>
      <p:sp>
        <p:nvSpPr>
          <p:cNvPr id="20" name="Окошко 4-4"/>
          <p:cNvSpPr/>
          <p:nvPr/>
        </p:nvSpPr>
        <p:spPr>
          <a:xfrm>
            <a:off x="8129016" y="3054096"/>
            <a:ext cx="585216" cy="585216"/>
          </a:xfrm>
          <a:prstGeom prst="roundRect">
            <a:avLst>
              <a:gd name="adj" fmla="val 15625"/>
            </a:avLst>
          </a:prstGeom>
          <a:solidFill>
            <a:srgbClr val="1C3157"/>
          </a:solidFill>
          <a:ln w="12700">
            <a:solidFill>
              <a:srgbClr val="1C3157"/>
            </a:solidFill>
            <a:prstDash val="solid"/>
          </a:ln>
        </p:spPr>
      </p:sp>
      <p:pic>
        <p:nvPicPr>
          <p:cNvPr id="21" name="Иконка записи" descr="Запись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783080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27432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Мастера теряют клиентов ещё до визита</a:t>
            </a:r>
            <a:endParaRPr lang="en-US" sz="2400" dirty="0"/>
          </a:p>
        </p:txBody>
      </p:sp>
      <p:sp>
        <p:nvSpPr>
          <p:cNvPr id="3" name="Проблема 1"/>
          <p:cNvSpPr/>
          <p:nvPr/>
        </p:nvSpPr>
        <p:spPr>
          <a:xfrm>
            <a:off x="548640" y="1325880"/>
            <a:ext cx="2560320" cy="2926080"/>
          </a:xfrm>
          <a:prstGeom prst="roundRect">
            <a:avLst>
              <a:gd name="adj" fmla="val 2857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4" name="Иконка проблемы 1 — круг"/>
          <p:cNvSpPr/>
          <p:nvPr/>
        </p:nvSpPr>
        <p:spPr>
          <a:xfrm>
            <a:off x="822960" y="1600200"/>
            <a:ext cx="640080" cy="640080"/>
          </a:xfrm>
          <a:prstGeom prst="ellipse">
            <a:avLst/>
          </a:prstGeom>
          <a:solidFill>
            <a:srgbClr val="D6455D"/>
          </a:solidFill>
          <a:ln w="12700">
            <a:solidFill>
              <a:srgbClr val="D6455D"/>
            </a:solidFill>
            <a:prstDash val="solid"/>
          </a:ln>
        </p:spPr>
      </p:sp>
      <p:pic>
        <p:nvPicPr>
          <p:cNvPr id="5" name="Иконка проблемы 1" descr="Иконка проблемы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5782" y="1773022"/>
            <a:ext cx="294437" cy="29443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3774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D6455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38%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154680"/>
            <a:ext cx="2057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7"/>
                </a:solidFill>
              </a:rPr>
              <a:t>звонков остаются без ответа, пока мастер работает с клиентом</a:t>
            </a:r>
            <a:endParaRPr lang="en-US" sz="1400" dirty="0"/>
          </a:p>
        </p:txBody>
      </p:sp>
      <p:sp>
        <p:nvSpPr>
          <p:cNvPr id="8" name="Проблема 2"/>
          <p:cNvSpPr/>
          <p:nvPr/>
        </p:nvSpPr>
        <p:spPr>
          <a:xfrm>
            <a:off x="3291840" y="1325880"/>
            <a:ext cx="2560320" cy="2926080"/>
          </a:xfrm>
          <a:prstGeom prst="roundRect">
            <a:avLst>
              <a:gd name="adj" fmla="val 2857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9" name="Иконка проблемы 2 — круг"/>
          <p:cNvSpPr/>
          <p:nvPr/>
        </p:nvSpPr>
        <p:spPr>
          <a:xfrm>
            <a:off x="3566160" y="1600200"/>
            <a:ext cx="640080" cy="64008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pic>
        <p:nvPicPr>
          <p:cNvPr id="10" name="Иконка проблемы 2" descr="Иконка проблемы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8982" y="1773022"/>
            <a:ext cx="294437" cy="29443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66160" y="23774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B97C1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 часа</a:t>
            </a:r>
            <a:endParaRPr lang="en-US" sz="3600" dirty="0"/>
          </a:p>
        </p:txBody>
      </p:sp>
      <p:sp>
        <p:nvSpPr>
          <p:cNvPr id="12" name="Text 8"/>
          <p:cNvSpPr txBox="1"/>
          <p:nvPr/>
        </p:nvSpPr>
        <p:spPr>
          <a:xfrm>
            <a:off x="3566160" y="3154680"/>
            <a:ext cx="2057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7"/>
                </a:solidFill>
              </a:rPr>
              <a:t>в день уходит на переписку о времени и переносах</a:t>
            </a:r>
            <a:endParaRPr lang="en-US" sz="1400" dirty="0"/>
          </a:p>
        </p:txBody>
      </p:sp>
      <p:sp>
        <p:nvSpPr>
          <p:cNvPr id="13" name="Проблема 3"/>
          <p:cNvSpPr/>
          <p:nvPr/>
        </p:nvSpPr>
        <p:spPr>
          <a:xfrm>
            <a:off x="6035040" y="1325880"/>
            <a:ext cx="2560320" cy="2926080"/>
          </a:xfrm>
          <a:prstGeom prst="roundRect">
            <a:avLst>
              <a:gd name="adj" fmla="val 2857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4" name="Иконка проблемы 3 — круг"/>
          <p:cNvSpPr/>
          <p:nvPr/>
        </p:nvSpPr>
        <p:spPr>
          <a:xfrm>
            <a:off x="6309360" y="1600200"/>
            <a:ext cx="640080" cy="64008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pic>
        <p:nvPicPr>
          <p:cNvPr id="15" name="Иконка проблемы 3" descr="Иконка проблемы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2182" y="1773022"/>
            <a:ext cx="294437" cy="294437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309360" y="23774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2F6B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 из 5</a:t>
            </a:r>
            <a:endParaRPr lang="en-US" sz="3600" dirty="0"/>
          </a:p>
        </p:txBody>
      </p:sp>
      <p:sp>
        <p:nvSpPr>
          <p:cNvPr id="17" name="Text 12"/>
          <p:cNvSpPr txBox="1"/>
          <p:nvPr/>
        </p:nvSpPr>
        <p:spPr>
          <a:xfrm>
            <a:off x="6309360" y="3154680"/>
            <a:ext cx="2057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7"/>
                </a:solidFill>
              </a:rPr>
              <a:t>клиентов не приходит — просто забывает о записи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27432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Окошко берёт запись на себя</a:t>
            </a:r>
            <a:endParaRPr lang="en-US" sz="2400" dirty="0"/>
          </a:p>
        </p:txBody>
      </p:sp>
      <p:sp>
        <p:nvSpPr>
          <p:cNvPr id="3" name="Шаг 1 — круг"/>
          <p:cNvSpPr/>
          <p:nvPr/>
        </p:nvSpPr>
        <p:spPr>
          <a:xfrm>
            <a:off x="548640" y="1371600"/>
            <a:ext cx="777240" cy="7772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pic>
        <p:nvPicPr>
          <p:cNvPr id="4" name="Шаг 1" descr="Шаг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495" y="1581455"/>
            <a:ext cx="357530" cy="35753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63040" y="14630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DDE3E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3317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E1E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Клиент выбирает время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7432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77"/>
                </a:solidFill>
              </a:rPr>
              <a:t>по ссылке из соцсетей или карт — без звонка</a:t>
            </a:r>
            <a:endParaRPr lang="en-US" sz="1300" dirty="0"/>
          </a:p>
        </p:txBody>
      </p:sp>
      <p:sp>
        <p:nvSpPr>
          <p:cNvPr id="8" name="Стрелка"/>
          <p:cNvSpPr/>
          <p:nvPr/>
        </p:nvSpPr>
        <p:spPr>
          <a:xfrm>
            <a:off x="2944368" y="1645920"/>
            <a:ext cx="182880" cy="237744"/>
          </a:xfrm>
          <a:prstGeom prst="chevron">
            <a:avLst/>
          </a:prstGeom>
          <a:solidFill>
            <a:srgbClr val="A9B8D6"/>
          </a:solidFill>
          <a:ln w="12700">
            <a:solidFill>
              <a:srgbClr val="A9B8D6"/>
            </a:solidFill>
            <a:prstDash val="solid"/>
          </a:ln>
        </p:spPr>
      </p:sp>
      <p:sp>
        <p:nvSpPr>
          <p:cNvPr id="9" name="Шаг 2 — круг"/>
          <p:cNvSpPr/>
          <p:nvPr/>
        </p:nvSpPr>
        <p:spPr>
          <a:xfrm>
            <a:off x="3291840" y="1371600"/>
            <a:ext cx="777240" cy="7772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pic>
        <p:nvPicPr>
          <p:cNvPr id="10" name="Шаг 2" descr="Шаг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1695" y="1581455"/>
            <a:ext cx="357530" cy="35753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206240" y="14630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DDE3E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Text 8"/>
          <p:cNvSpPr txBox="1"/>
          <p:nvPr/>
        </p:nvSpPr>
        <p:spPr>
          <a:xfrm>
            <a:off x="3291840" y="23317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E1E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Сервис напоминает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3291840" y="27432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77"/>
                </a:solidFill>
              </a:rPr>
              <a:t>за сутки и за 2 часа — в Telegram или СМС</a:t>
            </a:r>
            <a:endParaRPr lang="en-US" sz="1300" dirty="0"/>
          </a:p>
        </p:txBody>
      </p:sp>
      <p:sp>
        <p:nvSpPr>
          <p:cNvPr id="14" name="Стрелка"/>
          <p:cNvSpPr/>
          <p:nvPr/>
        </p:nvSpPr>
        <p:spPr>
          <a:xfrm>
            <a:off x="5687568" y="1645920"/>
            <a:ext cx="182880" cy="237744"/>
          </a:xfrm>
          <a:prstGeom prst="chevron">
            <a:avLst/>
          </a:prstGeom>
          <a:solidFill>
            <a:srgbClr val="A9B8D6"/>
          </a:solidFill>
          <a:ln w="12700">
            <a:solidFill>
              <a:srgbClr val="A9B8D6"/>
            </a:solidFill>
            <a:prstDash val="solid"/>
          </a:ln>
        </p:spPr>
      </p:sp>
      <p:sp>
        <p:nvSpPr>
          <p:cNvPr id="15" name="Шаг 3 — круг"/>
          <p:cNvSpPr/>
          <p:nvPr/>
        </p:nvSpPr>
        <p:spPr>
          <a:xfrm>
            <a:off x="6035040" y="1371600"/>
            <a:ext cx="777240" cy="7772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pic>
        <p:nvPicPr>
          <p:cNvPr id="16" name="Шаг 3" descr="Шаг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4895" y="1581455"/>
            <a:ext cx="357530" cy="35753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949440" y="14630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DDE3E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03</a:t>
            </a:r>
            <a:endParaRPr lang="en-US" sz="2600" dirty="0"/>
          </a:p>
        </p:txBody>
      </p:sp>
      <p:sp>
        <p:nvSpPr>
          <p:cNvPr id="18" name="Text 13"/>
          <p:cNvSpPr txBox="1"/>
          <p:nvPr/>
        </p:nvSpPr>
        <p:spPr>
          <a:xfrm>
            <a:off x="6035040" y="23317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E1E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Мастер видит свой день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6035040" y="27432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77"/>
                </a:solidFill>
              </a:rPr>
              <a:t>расписание обновляется само, переносы в один клик</a:t>
            </a:r>
            <a:endParaRPr lang="en-US" sz="1300" dirty="0"/>
          </a:p>
        </p:txBody>
      </p:sp>
      <p:sp>
        <p:nvSpPr>
          <p:cNvPr id="20" name="Плашка результата"/>
          <p:cNvSpPr/>
          <p:nvPr/>
        </p:nvSpPr>
        <p:spPr>
          <a:xfrm>
            <a:off x="548640" y="3657600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0E1E3A"/>
          </a:solidFill>
          <a:ln w="12700">
            <a:solidFill>
              <a:srgbClr val="0E1E3A"/>
            </a:solidFill>
            <a:prstDash val="solid"/>
          </a:ln>
        </p:spPr>
      </p:sp>
      <p:sp>
        <p:nvSpPr>
          <p:cNvPr id="21" name="Результат"/>
          <p:cNvSpPr txBox="1"/>
          <p:nvPr/>
        </p:nvSpPr>
        <p:spPr>
          <a:xfrm>
            <a:off x="777240" y="3657600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9B8D6"/>
                </a:solidFill>
              </a:rPr>
              <a:t>У пилотных клиентов: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неявки −40%, записи вне рабочих часов +27%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27432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Как это устроено</a:t>
            </a:r>
            <a:endParaRPr lang="en-US" sz="2400" dirty="0"/>
          </a:p>
        </p:txBody>
      </p:sp>
      <p:sp>
        <p:nvSpPr>
          <p:cNvPr id="3" name="Клиент"/>
          <p:cNvSpPr/>
          <p:nvPr/>
        </p:nvSpPr>
        <p:spPr>
          <a:xfrm>
            <a:off x="548640" y="1783080"/>
            <a:ext cx="2011680" cy="1097280"/>
          </a:xfrm>
          <a:prstGeom prst="roundRect">
            <a:avLst>
              <a:gd name="adj" fmla="val 6667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4" name="Иконка клиента — круг"/>
          <p:cNvSpPr/>
          <p:nvPr/>
        </p:nvSpPr>
        <p:spPr>
          <a:xfrm>
            <a:off x="731520" y="2011680"/>
            <a:ext cx="640080" cy="640080"/>
          </a:xfrm>
          <a:prstGeom prst="ellipse">
            <a:avLst/>
          </a:prstGeom>
          <a:solidFill>
            <a:srgbClr val="0E1E3A"/>
          </a:solidFill>
          <a:ln w="12700">
            <a:solidFill>
              <a:srgbClr val="0E1E3A"/>
            </a:solidFill>
            <a:prstDash val="solid"/>
          </a:ln>
        </p:spPr>
      </p:sp>
      <p:pic>
        <p:nvPicPr>
          <p:cNvPr id="5" name="Иконка клиента" descr="Иконка клиент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4342" y="2184502"/>
            <a:ext cx="294437" cy="29443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20116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E1E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Клиент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463040" y="233172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7"/>
                </a:solidFill>
              </a:rPr>
              <a:t>ссылка в соцсетях</a:t>
            </a:r>
            <a:endParaRPr lang="en-US" sz="1100" dirty="0"/>
          </a:p>
        </p:txBody>
      </p:sp>
      <p:sp>
        <p:nvSpPr>
          <p:cNvPr id="8" name="Связь клиент — сервис"/>
          <p:cNvSpPr/>
          <p:nvPr/>
        </p:nvSpPr>
        <p:spPr>
          <a:xfrm>
            <a:off x="2560320" y="2331720"/>
            <a:ext cx="1005840" cy="0"/>
          </a:xfrm>
          <a:prstGeom prst="line">
            <a:avLst/>
          </a:prstGeom>
          <a:noFill/>
          <a:ln w="25400">
            <a:solidFill>
              <a:srgbClr val="A9B8D6"/>
            </a:solidFill>
            <a:prstDash val="solid"/>
            <a:tailEnd type="triangle"/>
          </a:ln>
        </p:spPr>
      </p:sp>
      <p:sp>
        <p:nvSpPr>
          <p:cNvPr id="9" name="Ядро сервиса"/>
          <p:cNvSpPr/>
          <p:nvPr/>
        </p:nvSpPr>
        <p:spPr>
          <a:xfrm>
            <a:off x="3566160" y="1417320"/>
            <a:ext cx="1828800" cy="182880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566160" y="141732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Окошко</a:t>
            </a:r>
            <a:endParaRPr lang="en-US" sz="2000" dirty="0"/>
          </a:p>
        </p:txBody>
      </p:sp>
      <p:sp>
        <p:nvSpPr>
          <p:cNvPr id="11" name="Связь сервис — модули"/>
          <p:cNvSpPr/>
          <p:nvPr/>
        </p:nvSpPr>
        <p:spPr>
          <a:xfrm>
            <a:off x="5394960" y="2331720"/>
            <a:ext cx="548640" cy="0"/>
          </a:xfrm>
          <a:prstGeom prst="line">
            <a:avLst/>
          </a:prstGeom>
          <a:noFill/>
          <a:ln w="25400">
            <a:solidFill>
              <a:srgbClr val="A9B8D6"/>
            </a:solidFill>
            <a:prstDash val="solid"/>
          </a:ln>
        </p:spPr>
      </p:sp>
      <p:sp>
        <p:nvSpPr>
          <p:cNvPr id="12" name="Шина модулей"/>
          <p:cNvSpPr/>
          <p:nvPr/>
        </p:nvSpPr>
        <p:spPr>
          <a:xfrm>
            <a:off x="5943600" y="1417320"/>
            <a:ext cx="0" cy="2743200"/>
          </a:xfrm>
          <a:prstGeom prst="line">
            <a:avLst/>
          </a:prstGeom>
          <a:noFill/>
          <a:ln w="25400">
            <a:solidFill>
              <a:srgbClr val="A9B8D6"/>
            </a:solidFill>
            <a:prstDash val="solid"/>
          </a:ln>
        </p:spPr>
      </p:sp>
      <p:sp>
        <p:nvSpPr>
          <p:cNvPr id="13" name="Связь с модулем 1"/>
          <p:cNvSpPr/>
          <p:nvPr/>
        </p:nvSpPr>
        <p:spPr>
          <a:xfrm>
            <a:off x="5943600" y="1417320"/>
            <a:ext cx="365760" cy="0"/>
          </a:xfrm>
          <a:prstGeom prst="line">
            <a:avLst/>
          </a:prstGeom>
          <a:noFill/>
          <a:ln w="25400">
            <a:solidFill>
              <a:srgbClr val="A9B8D6"/>
            </a:solidFill>
            <a:prstDash val="solid"/>
          </a:ln>
        </p:spPr>
      </p:sp>
      <p:sp>
        <p:nvSpPr>
          <p:cNvPr id="14" name="Модуль 1"/>
          <p:cNvSpPr/>
          <p:nvPr/>
        </p:nvSpPr>
        <p:spPr>
          <a:xfrm>
            <a:off x="6309360" y="1097280"/>
            <a:ext cx="2286000" cy="640080"/>
          </a:xfrm>
          <a:prstGeom prst="roundRect">
            <a:avLst>
              <a:gd name="adj" fmla="val 11429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5" name="Иконка модуля 1 — круг"/>
          <p:cNvSpPr/>
          <p:nvPr/>
        </p:nvSpPr>
        <p:spPr>
          <a:xfrm>
            <a:off x="6400800" y="1207008"/>
            <a:ext cx="420624" cy="420624"/>
          </a:xfrm>
          <a:prstGeom prst="ellipse">
            <a:avLst/>
          </a:prstGeom>
          <a:solidFill>
            <a:srgbClr val="0E1E3A"/>
          </a:solidFill>
          <a:ln w="12700">
            <a:solidFill>
              <a:srgbClr val="0E1E3A"/>
            </a:solidFill>
            <a:prstDash val="solid"/>
          </a:ln>
        </p:spPr>
      </p:sp>
      <p:pic>
        <p:nvPicPr>
          <p:cNvPr id="16" name="Иконка модуля 1" descr="Иконка модуля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4368" y="1320576"/>
            <a:ext cx="193487" cy="193487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6931152" y="11704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1E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Напоминания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6931152" y="143560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7"/>
                </a:solidFill>
              </a:rPr>
              <a:t>Telegram и СМС</a:t>
            </a:r>
            <a:endParaRPr lang="en-US" sz="1000" dirty="0"/>
          </a:p>
        </p:txBody>
      </p:sp>
      <p:sp>
        <p:nvSpPr>
          <p:cNvPr id="19" name="Связь с модулем 2"/>
          <p:cNvSpPr/>
          <p:nvPr/>
        </p:nvSpPr>
        <p:spPr>
          <a:xfrm>
            <a:off x="5943600" y="2286000"/>
            <a:ext cx="365760" cy="0"/>
          </a:xfrm>
          <a:prstGeom prst="line">
            <a:avLst/>
          </a:prstGeom>
          <a:noFill/>
          <a:ln w="25400">
            <a:solidFill>
              <a:srgbClr val="A9B8D6"/>
            </a:solidFill>
            <a:prstDash val="solid"/>
          </a:ln>
        </p:spPr>
      </p:sp>
      <p:sp>
        <p:nvSpPr>
          <p:cNvPr id="20" name="Модуль 2"/>
          <p:cNvSpPr/>
          <p:nvPr/>
        </p:nvSpPr>
        <p:spPr>
          <a:xfrm>
            <a:off x="6309360" y="1965960"/>
            <a:ext cx="2286000" cy="640080"/>
          </a:xfrm>
          <a:prstGeom prst="roundRect">
            <a:avLst>
              <a:gd name="adj" fmla="val 11429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21" name="Иконка модуля 2 — круг"/>
          <p:cNvSpPr/>
          <p:nvPr/>
        </p:nvSpPr>
        <p:spPr>
          <a:xfrm>
            <a:off x="6400800" y="2075688"/>
            <a:ext cx="420624" cy="420624"/>
          </a:xfrm>
          <a:prstGeom prst="ellipse">
            <a:avLst/>
          </a:prstGeom>
          <a:solidFill>
            <a:srgbClr val="0E1E3A"/>
          </a:solidFill>
          <a:ln w="12700">
            <a:solidFill>
              <a:srgbClr val="0E1E3A"/>
            </a:solidFill>
            <a:prstDash val="solid"/>
          </a:ln>
        </p:spPr>
      </p:sp>
      <p:pic>
        <p:nvPicPr>
          <p:cNvPr id="22" name="Иконка модуля 2" descr="Иконка модуля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4368" y="2189256"/>
            <a:ext cx="193487" cy="193487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6931152" y="20391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1E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Календарь мастера</a:t>
            </a:r>
            <a:endParaRPr lang="en-US" sz="1200" dirty="0"/>
          </a:p>
        </p:txBody>
      </p:sp>
      <p:sp>
        <p:nvSpPr>
          <p:cNvPr id="24" name="Text 19"/>
          <p:cNvSpPr txBox="1"/>
          <p:nvPr/>
        </p:nvSpPr>
        <p:spPr>
          <a:xfrm>
            <a:off x="6931152" y="230428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7"/>
                </a:solidFill>
              </a:rPr>
              <a:t>синхронизация с телефоном</a:t>
            </a:r>
            <a:endParaRPr lang="en-US" sz="1000" dirty="0"/>
          </a:p>
        </p:txBody>
      </p:sp>
      <p:sp>
        <p:nvSpPr>
          <p:cNvPr id="25" name="Связь с модулем 3"/>
          <p:cNvSpPr/>
          <p:nvPr/>
        </p:nvSpPr>
        <p:spPr>
          <a:xfrm>
            <a:off x="5943600" y="3154680"/>
            <a:ext cx="365760" cy="0"/>
          </a:xfrm>
          <a:prstGeom prst="line">
            <a:avLst/>
          </a:prstGeom>
          <a:noFill/>
          <a:ln w="25400">
            <a:solidFill>
              <a:srgbClr val="A9B8D6"/>
            </a:solidFill>
            <a:prstDash val="solid"/>
          </a:ln>
        </p:spPr>
      </p:sp>
      <p:sp>
        <p:nvSpPr>
          <p:cNvPr id="26" name="Модуль 3"/>
          <p:cNvSpPr/>
          <p:nvPr/>
        </p:nvSpPr>
        <p:spPr>
          <a:xfrm>
            <a:off x="6309360" y="2834640"/>
            <a:ext cx="2286000" cy="640080"/>
          </a:xfrm>
          <a:prstGeom prst="roundRect">
            <a:avLst>
              <a:gd name="adj" fmla="val 11429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27" name="Иконка модуля 3 — круг"/>
          <p:cNvSpPr/>
          <p:nvPr/>
        </p:nvSpPr>
        <p:spPr>
          <a:xfrm>
            <a:off x="6400800" y="2944368"/>
            <a:ext cx="420624" cy="420624"/>
          </a:xfrm>
          <a:prstGeom prst="ellipse">
            <a:avLst/>
          </a:prstGeom>
          <a:solidFill>
            <a:srgbClr val="0E1E3A"/>
          </a:solidFill>
          <a:ln w="12700">
            <a:solidFill>
              <a:srgbClr val="0E1E3A"/>
            </a:solidFill>
            <a:prstDash val="solid"/>
          </a:ln>
        </p:spPr>
      </p:sp>
      <p:pic>
        <p:nvPicPr>
          <p:cNvPr id="28" name="Иконка модуля 3" descr="Иконка модуля 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4368" y="3057936"/>
            <a:ext cx="193487" cy="193487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6931152" y="29077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1E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Предоплата</a:t>
            </a:r>
            <a:endParaRPr lang="en-US" sz="1200" dirty="0"/>
          </a:p>
        </p:txBody>
      </p:sp>
      <p:sp>
        <p:nvSpPr>
          <p:cNvPr id="30" name="Text 24"/>
          <p:cNvSpPr txBox="1"/>
          <p:nvPr/>
        </p:nvSpPr>
        <p:spPr>
          <a:xfrm>
            <a:off x="6931152" y="317296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7"/>
                </a:solidFill>
              </a:rPr>
              <a:t>СБП и карты</a:t>
            </a:r>
            <a:endParaRPr lang="en-US" sz="1000" dirty="0"/>
          </a:p>
        </p:txBody>
      </p:sp>
      <p:sp>
        <p:nvSpPr>
          <p:cNvPr id="31" name="Связь с модулем 4"/>
          <p:cNvSpPr/>
          <p:nvPr/>
        </p:nvSpPr>
        <p:spPr>
          <a:xfrm>
            <a:off x="5943600" y="4023360"/>
            <a:ext cx="365760" cy="0"/>
          </a:xfrm>
          <a:prstGeom prst="line">
            <a:avLst/>
          </a:prstGeom>
          <a:noFill/>
          <a:ln w="25400">
            <a:solidFill>
              <a:srgbClr val="A9B8D6"/>
            </a:solidFill>
            <a:prstDash val="solid"/>
          </a:ln>
        </p:spPr>
      </p:sp>
      <p:sp>
        <p:nvSpPr>
          <p:cNvPr id="32" name="Модуль 4"/>
          <p:cNvSpPr/>
          <p:nvPr/>
        </p:nvSpPr>
        <p:spPr>
          <a:xfrm>
            <a:off x="6309360" y="3703320"/>
            <a:ext cx="2286000" cy="640080"/>
          </a:xfrm>
          <a:prstGeom prst="roundRect">
            <a:avLst>
              <a:gd name="adj" fmla="val 11429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33" name="Иконка модуля 4 — круг"/>
          <p:cNvSpPr/>
          <p:nvPr/>
        </p:nvSpPr>
        <p:spPr>
          <a:xfrm>
            <a:off x="6400800" y="3813048"/>
            <a:ext cx="420624" cy="420624"/>
          </a:xfrm>
          <a:prstGeom prst="ellipse">
            <a:avLst/>
          </a:prstGeom>
          <a:solidFill>
            <a:srgbClr val="0E1E3A"/>
          </a:solidFill>
          <a:ln w="12700">
            <a:solidFill>
              <a:srgbClr val="0E1E3A"/>
            </a:solidFill>
            <a:prstDash val="solid"/>
          </a:ln>
        </p:spPr>
      </p:sp>
      <p:pic>
        <p:nvPicPr>
          <p:cNvPr id="34" name="Иконка модуля 4" descr="Иконка модуля 4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4368" y="3926616"/>
            <a:ext cx="193487" cy="193487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6931152" y="37764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1E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Отчёты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6931152" y="404164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7"/>
                </a:solidFill>
              </a:rPr>
              <a:t>загрузка, выручка, неявки</a:t>
            </a:r>
            <a:endParaRPr lang="en-US" sz="1000" dirty="0"/>
          </a:p>
        </p:txBody>
      </p:sp>
      <p:sp>
        <p:nvSpPr>
          <p:cNvPr id="37" name="Text 30"/>
          <p:cNvSpPr txBox="1"/>
          <p:nvPr/>
        </p:nvSpPr>
        <p:spPr>
          <a:xfrm>
            <a:off x="548640" y="36576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B6577"/>
                </a:solidFill>
              </a:rPr>
              <a:t>Партнёр может подключиться к любому модулю через открытый API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27432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Рынок: 480 тысяч мастеров и студий</a:t>
            </a:r>
            <a:endParaRPr lang="en-US" sz="2400" dirty="0"/>
          </a:p>
        </p:txBody>
      </p:sp>
      <p:sp>
        <p:nvSpPr>
          <p:cNvPr id="3" name="Круг TAM"/>
          <p:cNvSpPr/>
          <p:nvPr/>
        </p:nvSpPr>
        <p:spPr>
          <a:xfrm>
            <a:off x="548640" y="1188720"/>
            <a:ext cx="3383280" cy="3383280"/>
          </a:xfrm>
          <a:prstGeom prst="ellipse">
            <a:avLst/>
          </a:prstGeom>
          <a:solidFill>
            <a:srgbClr val="DCE6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5331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E1E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TAM</a:t>
            </a:r>
            <a:endParaRPr lang="en-US" sz="1300" dirty="0"/>
          </a:p>
        </p:txBody>
      </p:sp>
      <p:sp>
        <p:nvSpPr>
          <p:cNvPr id="5" name="Круг SAM"/>
          <p:cNvSpPr/>
          <p:nvPr/>
        </p:nvSpPr>
        <p:spPr>
          <a:xfrm>
            <a:off x="1074420" y="2240280"/>
            <a:ext cx="2331720" cy="2331720"/>
          </a:xfrm>
          <a:prstGeom prst="ellipse">
            <a:avLst/>
          </a:prstGeom>
          <a:solidFill>
            <a:srgbClr val="9DB8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74420" y="240487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E1E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SAM</a:t>
            </a:r>
            <a:endParaRPr lang="en-US" sz="1300" dirty="0"/>
          </a:p>
        </p:txBody>
      </p:sp>
      <p:sp>
        <p:nvSpPr>
          <p:cNvPr id="7" name="Круг SOM"/>
          <p:cNvSpPr/>
          <p:nvPr/>
        </p:nvSpPr>
        <p:spPr>
          <a:xfrm>
            <a:off x="1600200" y="3291840"/>
            <a:ext cx="1280160" cy="1280160"/>
          </a:xfrm>
          <a:prstGeom prst="ellipse">
            <a:avLst/>
          </a:prstGeom>
          <a:solidFill>
            <a:srgbClr val="2F6B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600200" y="37490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SOM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480560" y="12344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6B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TAM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120640" y="116128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E1E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480 тыс.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5120640" y="167335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77"/>
                </a:solidFill>
              </a:rPr>
              <a:t>салонов, студий и частных мастеров в России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235000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6B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SAM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120640" y="2276856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E1E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120 тыс.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5120640" y="27889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77"/>
                </a:solidFill>
              </a:rPr>
              <a:t>в городах-миллионниках, уже ведут запись в соцсетях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480560" y="346557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6B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SOM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120640" y="3392424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E1E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 тыс.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5120640" y="390448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77"/>
                </a:solidFill>
              </a:rPr>
              <a:t>платящих клиентов — наша цель к концу 2027 года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27432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Платящих клиентов стало в 27 раз больше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188720"/>
          <a:ext cx="55778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Показатель роста"/>
          <p:cNvSpPr/>
          <p:nvPr/>
        </p:nvSpPr>
        <p:spPr>
          <a:xfrm>
            <a:off x="6400800" y="1188720"/>
            <a:ext cx="2194560" cy="1554480"/>
          </a:xfrm>
          <a:prstGeom prst="roundRect">
            <a:avLst>
              <a:gd name="adj" fmla="val 4706"/>
            </a:avLst>
          </a:prstGeom>
          <a:solidFill>
            <a:srgbClr val="0E1E3A"/>
          </a:solidFill>
          <a:ln w="12700">
            <a:solidFill>
              <a:srgbClr val="0E1E3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629400" y="13258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×27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6629400" y="20116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B8D6"/>
                </a:solidFill>
              </a:rPr>
              <a:t>за 6 кварталов, без платной рекламы</a:t>
            </a:r>
            <a:endParaRPr lang="en-US" sz="1200" dirty="0"/>
          </a:p>
        </p:txBody>
      </p:sp>
      <p:sp>
        <p:nvSpPr>
          <p:cNvPr id="7" name="Источник роста"/>
          <p:cNvSpPr/>
          <p:nvPr/>
        </p:nvSpPr>
        <p:spPr>
          <a:xfrm>
            <a:off x="6400800" y="2926080"/>
            <a:ext cx="2194560" cy="1645920"/>
          </a:xfrm>
          <a:prstGeom prst="roundRect">
            <a:avLst>
              <a:gd name="adj" fmla="val 4444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629400" y="30632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B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62%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6629400" y="36118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</a:rPr>
              <a:t>новых клиентов приходят по рекомендации других мастеров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27432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Бизнес-модель: подписка</a:t>
            </a:r>
            <a:endParaRPr lang="en-US" sz="2400" dirty="0"/>
          </a:p>
        </p:txBody>
      </p:sp>
      <p:sp>
        <p:nvSpPr>
          <p:cNvPr id="3" name="Тариф Старт"/>
          <p:cNvSpPr/>
          <p:nvPr/>
        </p:nvSpPr>
        <p:spPr>
          <a:xfrm>
            <a:off x="548640" y="1280160"/>
            <a:ext cx="2560320" cy="2834640"/>
          </a:xfrm>
          <a:prstGeom prst="roundRect">
            <a:avLst>
              <a:gd name="adj" fmla="val 2857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F6B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Старт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745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E1E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 ₽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231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</a:rPr>
              <a:t>до 30 записей в месяц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88036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0E1E3A"/>
                </a:solidFill>
              </a:rPr>
              <a:t>онлайн-запись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0E1E3A"/>
                </a:solidFill>
              </a:rPr>
              <a:t>ссылка для соцсетей</a:t>
            </a:r>
            <a:endParaRPr lang="en-US" sz="1300" dirty="0"/>
          </a:p>
        </p:txBody>
      </p:sp>
      <p:sp>
        <p:nvSpPr>
          <p:cNvPr id="8" name="Тариф Мастер"/>
          <p:cNvSpPr/>
          <p:nvPr/>
        </p:nvSpPr>
        <p:spPr>
          <a:xfrm>
            <a:off x="3291840" y="1280160"/>
            <a:ext cx="2560320" cy="2834640"/>
          </a:xfrm>
          <a:prstGeom prst="roundRect">
            <a:avLst>
              <a:gd name="adj" fmla="val 2857"/>
            </a:avLst>
          </a:prstGeom>
          <a:solidFill>
            <a:srgbClr val="0E1E3A"/>
          </a:solidFill>
          <a:ln w="12700">
            <a:solidFill>
              <a:srgbClr val="0E1E3A"/>
            </a:solidFill>
            <a:prstDash val="solid"/>
          </a:ln>
        </p:spPr>
      </p:sp>
      <p:sp>
        <p:nvSpPr>
          <p:cNvPr id="9" name="Метка популярного тарифа"/>
          <p:cNvSpPr/>
          <p:nvPr/>
        </p:nvSpPr>
        <p:spPr>
          <a:xfrm>
            <a:off x="3566160" y="1143000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66160" y="11430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1E3A"/>
                </a:solidFill>
              </a:rPr>
              <a:t>выбирают 68%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15544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9B8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Мастер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18745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790 ₽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24231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8D6"/>
                </a:solidFill>
              </a:rPr>
              <a:t>в месяц, без лимитов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566160" y="288036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напоминания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предоплата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отчёты</a:t>
            </a:r>
            <a:endParaRPr lang="en-US" sz="1300" dirty="0"/>
          </a:p>
        </p:txBody>
      </p:sp>
      <p:sp>
        <p:nvSpPr>
          <p:cNvPr id="15" name="Тариф Студия"/>
          <p:cNvSpPr/>
          <p:nvPr/>
        </p:nvSpPr>
        <p:spPr>
          <a:xfrm>
            <a:off x="6035040" y="1280160"/>
            <a:ext cx="2560320" cy="2834640"/>
          </a:xfrm>
          <a:prstGeom prst="roundRect">
            <a:avLst>
              <a:gd name="adj" fmla="val 2857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09360" y="15544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F6B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Студия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18745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E1E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2 490 ₽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24231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</a:rPr>
              <a:t>в месяц, до 10 мастеров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309360" y="288036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0E1E3A"/>
                </a:solidFill>
              </a:rPr>
              <a:t>роли и доступы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0E1E3A"/>
                </a:solidFill>
              </a:rPr>
              <a:t>общий календарь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0E1E3A"/>
                </a:solidFill>
              </a:rPr>
              <a:t>API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2519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7"/>
                </a:solidFill>
              </a:rPr>
              <a:t>Средняя выручка с клиента — 1 150 ₽ в месяц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27432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Чем мы отличаемся</a:t>
            </a:r>
            <a:endParaRPr lang="en-US" sz="2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804672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737360"/>
                <a:gridCol w="1737360"/>
                <a:gridCol w="173736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Окошко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B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E1E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Крупные CRM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E1E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Запись в переписке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E1E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Запуск за 10 минут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7A58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A9B8D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7A58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E1E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Напоминания клиентам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7A58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7A58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A9B8D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E1E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Предоплата через СБП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7A58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7A58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A9B8D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E1E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Цена для одного мастера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E1E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790 ₽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E1E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от 2 500 ₽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E1E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 ₽, но время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E1E3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Без обучения персонала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7A58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A9B8D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7A58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27432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Ключевые показатели</a:t>
            </a:r>
            <a:endParaRPr lang="en-US" sz="2400" dirty="0"/>
          </a:p>
        </p:txBody>
      </p:sp>
      <p:sp>
        <p:nvSpPr>
          <p:cNvPr id="3" name="Показатель 1"/>
          <p:cNvSpPr/>
          <p:nvPr/>
        </p:nvSpPr>
        <p:spPr>
          <a:xfrm>
            <a:off x="548640" y="1280160"/>
            <a:ext cx="3931920" cy="1417320"/>
          </a:xfrm>
          <a:prstGeom prst="roundRect">
            <a:avLst>
              <a:gd name="adj" fmla="val 5161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4" name="Акцент показателя 1"/>
          <p:cNvSpPr/>
          <p:nvPr/>
        </p:nvSpPr>
        <p:spPr>
          <a:xfrm>
            <a:off x="548640" y="1508760"/>
            <a:ext cx="64008" cy="960120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481328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F6B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1,27 млн ₽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031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7"/>
                </a:solidFill>
              </a:rPr>
              <a:t>выручка в месяц (MRR)</a:t>
            </a:r>
            <a:endParaRPr lang="en-US" sz="1400" dirty="0"/>
          </a:p>
        </p:txBody>
      </p:sp>
      <p:sp>
        <p:nvSpPr>
          <p:cNvPr id="7" name="Показатель 2"/>
          <p:cNvSpPr/>
          <p:nvPr/>
        </p:nvSpPr>
        <p:spPr>
          <a:xfrm>
            <a:off x="4663440" y="1280160"/>
            <a:ext cx="3931920" cy="1417320"/>
          </a:xfrm>
          <a:prstGeom prst="roundRect">
            <a:avLst>
              <a:gd name="adj" fmla="val 5161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8" name="Акцент показателя 2"/>
          <p:cNvSpPr/>
          <p:nvPr/>
        </p:nvSpPr>
        <p:spPr>
          <a:xfrm>
            <a:off x="4663440" y="1508760"/>
            <a:ext cx="64008" cy="960120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83480" y="1481328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7A58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92%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4983480" y="21031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7"/>
                </a:solidFill>
              </a:rPr>
              <a:t>клиентов продлевают подписку</a:t>
            </a:r>
            <a:endParaRPr lang="en-US" sz="1400" dirty="0"/>
          </a:p>
        </p:txBody>
      </p:sp>
      <p:sp>
        <p:nvSpPr>
          <p:cNvPr id="11" name="Показатель 3"/>
          <p:cNvSpPr/>
          <p:nvPr/>
        </p:nvSpPr>
        <p:spPr>
          <a:xfrm>
            <a:off x="548640" y="2880360"/>
            <a:ext cx="3931920" cy="1417320"/>
          </a:xfrm>
          <a:prstGeom prst="roundRect">
            <a:avLst>
              <a:gd name="adj" fmla="val 5161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2" name="Акцент показателя 3"/>
          <p:cNvSpPr/>
          <p:nvPr/>
        </p:nvSpPr>
        <p:spPr>
          <a:xfrm>
            <a:off x="548640" y="3108960"/>
            <a:ext cx="64008" cy="960120"/>
          </a:xfrm>
          <a:prstGeom prst="rect">
            <a:avLst/>
          </a:prstGeom>
          <a:solidFill>
            <a:srgbClr val="B97C1F"/>
          </a:solidFill>
          <a:ln w="12700">
            <a:solidFill>
              <a:srgbClr val="B97C1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8680" y="3081528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B97C1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 мес.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3703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7"/>
                </a:solidFill>
              </a:rPr>
              <a:t>окупается привлечение клиента</a:t>
            </a:r>
            <a:endParaRPr lang="en-US" sz="1400" dirty="0"/>
          </a:p>
        </p:txBody>
      </p:sp>
      <p:sp>
        <p:nvSpPr>
          <p:cNvPr id="15" name="Показатель 4"/>
          <p:cNvSpPr/>
          <p:nvPr/>
        </p:nvSpPr>
        <p:spPr>
          <a:xfrm>
            <a:off x="4663440" y="2880360"/>
            <a:ext cx="3931920" cy="1417320"/>
          </a:xfrm>
          <a:prstGeom prst="roundRect">
            <a:avLst>
              <a:gd name="adj" fmla="val 5161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6" name="Акцент показателя 4"/>
          <p:cNvSpPr/>
          <p:nvPr/>
        </p:nvSpPr>
        <p:spPr>
          <a:xfrm>
            <a:off x="4663440" y="3108960"/>
            <a:ext cx="64008" cy="960120"/>
          </a:xfrm>
          <a:prstGeom prst="rect">
            <a:avLst/>
          </a:prstGeom>
          <a:solidFill>
            <a:srgbClr val="0E1E3A"/>
          </a:solidFill>
          <a:ln w="12700">
            <a:solidFill>
              <a:srgbClr val="0E1E3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983480" y="3081528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E1E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4,8 из 5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4983480" y="3703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7"/>
                </a:solidFill>
              </a:rPr>
              <a:t>средняя оценка в каталогах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27432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Дорожная карта на год</a:t>
            </a:r>
            <a:endParaRPr lang="en-US" sz="2400" dirty="0"/>
          </a:p>
        </p:txBody>
      </p:sp>
      <p:sp>
        <p:nvSpPr>
          <p:cNvPr id="3" name="Линия времени"/>
          <p:cNvSpPr/>
          <p:nvPr/>
        </p:nvSpPr>
        <p:spPr>
          <a:xfrm>
            <a:off x="704088" y="2103120"/>
            <a:ext cx="6035040" cy="0"/>
          </a:xfrm>
          <a:prstGeom prst="line">
            <a:avLst/>
          </a:prstGeom>
          <a:noFill/>
          <a:ln w="38100">
            <a:solidFill>
              <a:srgbClr val="DDE3EE"/>
            </a:solidFill>
            <a:prstDash val="solid"/>
          </a:ln>
        </p:spPr>
      </p:sp>
      <p:sp>
        <p:nvSpPr>
          <p:cNvPr id="4" name="Точка IV кв. 2026"/>
          <p:cNvSpPr/>
          <p:nvPr/>
        </p:nvSpPr>
        <p:spPr>
          <a:xfrm>
            <a:off x="548640" y="1947672"/>
            <a:ext cx="310896" cy="310896"/>
          </a:xfrm>
          <a:prstGeom prst="ellipse">
            <a:avLst/>
          </a:prstGeom>
          <a:solidFill>
            <a:srgbClr val="2F6BFF"/>
          </a:solidFill>
          <a:ln w="38100">
            <a:solidFill>
              <a:srgbClr val="2F6B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716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6B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IV кв. 2026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146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E1E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Оплата через СБП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10896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</a:rPr>
              <a:t>встроенная предоплата без эквайринга</a:t>
            </a:r>
            <a:endParaRPr lang="en-US" sz="1200" dirty="0"/>
          </a:p>
        </p:txBody>
      </p:sp>
      <p:sp>
        <p:nvSpPr>
          <p:cNvPr id="8" name="Точка I кв. 2027"/>
          <p:cNvSpPr/>
          <p:nvPr/>
        </p:nvSpPr>
        <p:spPr>
          <a:xfrm>
            <a:off x="2560320" y="1947672"/>
            <a:ext cx="310896" cy="310896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E1E3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60320" y="13716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 кв. 2027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560320" y="25146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E1E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Приложение для мастеров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560320" y="310896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</a:rPr>
              <a:t>Android и iOS, уведомления о записях</a:t>
            </a:r>
            <a:endParaRPr lang="en-US" sz="1200" dirty="0"/>
          </a:p>
        </p:txBody>
      </p:sp>
      <p:sp>
        <p:nvSpPr>
          <p:cNvPr id="12" name="Точка II кв. 2027"/>
          <p:cNvSpPr/>
          <p:nvPr/>
        </p:nvSpPr>
        <p:spPr>
          <a:xfrm>
            <a:off x="4572000" y="1947672"/>
            <a:ext cx="310896" cy="310896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E1E3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0" y="13716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II кв. 2027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25146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E1E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Казахстан и Беларусь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310896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</a:rPr>
              <a:t>тенге, белорусский рубль, локальные СМС</a:t>
            </a:r>
            <a:endParaRPr lang="en-US" sz="1200" dirty="0"/>
          </a:p>
        </p:txBody>
      </p:sp>
      <p:sp>
        <p:nvSpPr>
          <p:cNvPr id="16" name="Точка III кв. 2027"/>
          <p:cNvSpPr/>
          <p:nvPr/>
        </p:nvSpPr>
        <p:spPr>
          <a:xfrm>
            <a:off x="6583680" y="1947672"/>
            <a:ext cx="310896" cy="310896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E1E3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0" y="13716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III кв. 2027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0" y="25146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E1E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Открытый API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310896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</a:rPr>
              <a:t>для партнёров и интеграторов</a:t>
            </a:r>
            <a:endParaRPr lang="en-US" sz="1200" dirty="0"/>
          </a:p>
        </p:txBody>
      </p:sp>
      <p:sp>
        <p:nvSpPr>
          <p:cNvPr id="20" name="Плашка о партнёрах"/>
          <p:cNvSpPr/>
          <p:nvPr/>
        </p:nvSpPr>
        <p:spPr>
          <a:xfrm>
            <a:off x="548640" y="3886200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388620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BFF"/>
                </a:solidFill>
              </a:rPr>
              <a:t>Для партнёров: </a:t>
            </a:r>
            <a:pPr indent="0" marL="0">
              <a:buNone/>
            </a:pPr>
            <a:r>
              <a:rPr lang="en-US" sz="1400" dirty="0">
                <a:solidFill>
                  <a:srgbClr val="0E1E3A"/>
                </a:solidFill>
              </a:rPr>
              <a:t>бета-доступ к API открываем уже в I квартале 2027 года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27432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Что мы предлагаем партнёрам</a:t>
            </a:r>
            <a:endParaRPr lang="en-US" sz="2400" dirty="0"/>
          </a:p>
        </p:txBody>
      </p:sp>
      <p:sp>
        <p:nvSpPr>
          <p:cNvPr id="3" name="Предложение 1"/>
          <p:cNvSpPr/>
          <p:nvPr/>
        </p:nvSpPr>
        <p:spPr>
          <a:xfrm>
            <a:off x="548640" y="1325880"/>
            <a:ext cx="2560320" cy="30175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4" name="Иконка: Реферальная программа — круг"/>
          <p:cNvSpPr/>
          <p:nvPr/>
        </p:nvSpPr>
        <p:spPr>
          <a:xfrm>
            <a:off x="822960" y="1600200"/>
            <a:ext cx="731520" cy="73152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pic>
        <p:nvPicPr>
          <p:cNvPr id="5" name="Иконка: Реферальная программа" descr="Иконка: Реферальная программ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470" y="1797710"/>
            <a:ext cx="336499" cy="33649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5603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E1E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Реферальная программа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2004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77"/>
                </a:solidFill>
              </a:rPr>
              <a:t>20% от оплат приведённых клиентов в течение первого года</a:t>
            </a:r>
            <a:endParaRPr lang="en-US" sz="1300" dirty="0"/>
          </a:p>
        </p:txBody>
      </p:sp>
      <p:sp>
        <p:nvSpPr>
          <p:cNvPr id="8" name="Предложение 2"/>
          <p:cNvSpPr/>
          <p:nvPr/>
        </p:nvSpPr>
        <p:spPr>
          <a:xfrm>
            <a:off x="3291840" y="1325880"/>
            <a:ext cx="2560320" cy="30175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9" name="Иконка: Интеграция — круг"/>
          <p:cNvSpPr/>
          <p:nvPr/>
        </p:nvSpPr>
        <p:spPr>
          <a:xfrm>
            <a:off x="3566160" y="1600200"/>
            <a:ext cx="731520" cy="731520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pic>
        <p:nvPicPr>
          <p:cNvPr id="10" name="Иконка: Интеграция" descr="Иконка: Интеграция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3670" y="1797710"/>
            <a:ext cx="336499" cy="336499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66160" y="25603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E1E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Интеграция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3566160" y="32004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77"/>
                </a:solidFill>
              </a:rPr>
              <a:t>запись Окошка внутри вашего сервиса — под вашим брендом</a:t>
            </a:r>
            <a:endParaRPr lang="en-US" sz="1300" dirty="0"/>
          </a:p>
        </p:txBody>
      </p:sp>
      <p:sp>
        <p:nvSpPr>
          <p:cNvPr id="13" name="Предложение 3"/>
          <p:cNvSpPr/>
          <p:nvPr/>
        </p:nvSpPr>
        <p:spPr>
          <a:xfrm>
            <a:off x="6035040" y="1325880"/>
            <a:ext cx="2560320" cy="30175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14" name="Иконка: Совместный маркетинг — круг"/>
          <p:cNvSpPr/>
          <p:nvPr/>
        </p:nvSpPr>
        <p:spPr>
          <a:xfrm>
            <a:off x="6309360" y="1600200"/>
            <a:ext cx="731520" cy="73152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pic>
        <p:nvPicPr>
          <p:cNvPr id="15" name="Иконка: Совместный маркетинг" descr="Иконка: Совместный маркетинг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6870" y="1797710"/>
            <a:ext cx="336499" cy="336499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309360" y="25603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E1E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Совместный маркетинг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6309360" y="32004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77"/>
                </a:solidFill>
              </a:rPr>
              <a:t>вебинары, подборки и спецусловия для вашей аудитории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486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chemeClr val="bg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Давайте обсудим партнёрство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08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B8D6"/>
                </a:solidFill>
              </a:rPr>
              <a:t>Следующие шаги</a:t>
            </a:r>
            <a:endParaRPr lang="en-US" sz="1400" dirty="0"/>
          </a:p>
        </p:txBody>
      </p:sp>
      <p:sp>
        <p:nvSpPr>
          <p:cNvPr id="4" name="Шаг 1 — круг"/>
          <p:cNvSpPr/>
          <p:nvPr/>
        </p:nvSpPr>
        <p:spPr>
          <a:xfrm>
            <a:off x="548640" y="2011680"/>
            <a:ext cx="502920" cy="50292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9933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Звонок 30 минут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26771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8D6"/>
                </a:solidFill>
              </a:rPr>
              <a:t>покажем сервис и посчитаем выгоду для вашей аудитории</a:t>
            </a:r>
            <a:endParaRPr lang="en-US" sz="1200" dirty="0"/>
          </a:p>
        </p:txBody>
      </p:sp>
      <p:sp>
        <p:nvSpPr>
          <p:cNvPr id="8" name="Шаг 2 — круг"/>
          <p:cNvSpPr/>
          <p:nvPr/>
        </p:nvSpPr>
        <p:spPr>
          <a:xfrm>
            <a:off x="548640" y="2788920"/>
            <a:ext cx="502920" cy="502920"/>
          </a:xfrm>
          <a:prstGeom prst="ellipse">
            <a:avLst/>
          </a:prstGeom>
          <a:solidFill>
            <a:srgbClr val="1C3157"/>
          </a:solidFill>
          <a:ln w="12700">
            <a:solidFill>
              <a:srgbClr val="1C315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7706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Пилот на 2 недели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304495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8D6"/>
                </a:solidFill>
              </a:rPr>
              <a:t>бесплатно для 20 ваших клиентов</a:t>
            </a:r>
            <a:endParaRPr lang="en-US" sz="1200" dirty="0"/>
          </a:p>
        </p:txBody>
      </p:sp>
      <p:sp>
        <p:nvSpPr>
          <p:cNvPr id="12" name="Шаг 3 — круг"/>
          <p:cNvSpPr/>
          <p:nvPr/>
        </p:nvSpPr>
        <p:spPr>
          <a:xfrm>
            <a:off x="548640" y="3566160"/>
            <a:ext cx="502920" cy="502920"/>
          </a:xfrm>
          <a:prstGeom prst="ellipse">
            <a:avLst/>
          </a:prstGeom>
          <a:solidFill>
            <a:srgbClr val="1C3157"/>
          </a:solidFill>
          <a:ln w="12700">
            <a:solidFill>
              <a:srgbClr val="1C315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5478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Договор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382219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8D6"/>
                </a:solidFill>
              </a:rPr>
              <a:t>фиксируем условия по итогам пилота</a:t>
            </a:r>
            <a:endParaRPr lang="en-US" sz="1200" dirty="0"/>
          </a:p>
        </p:txBody>
      </p:sp>
      <p:sp>
        <p:nvSpPr>
          <p:cNvPr id="16" name="Окошко финала 1-1"/>
          <p:cNvSpPr/>
          <p:nvPr/>
        </p:nvSpPr>
        <p:spPr>
          <a:xfrm>
            <a:off x="6400800" y="1828800"/>
            <a:ext cx="585216" cy="585216"/>
          </a:xfrm>
          <a:prstGeom prst="roundRect">
            <a:avLst>
              <a:gd name="adj" fmla="val 15625"/>
            </a:avLst>
          </a:prstGeom>
          <a:solidFill>
            <a:srgbClr val="1C3157"/>
          </a:solidFill>
          <a:ln w="12700">
            <a:solidFill>
              <a:srgbClr val="1C3157"/>
            </a:solidFill>
            <a:prstDash val="solid"/>
          </a:ln>
        </p:spPr>
      </p:sp>
      <p:sp>
        <p:nvSpPr>
          <p:cNvPr id="17" name="Окошко финала 1-2"/>
          <p:cNvSpPr/>
          <p:nvPr/>
        </p:nvSpPr>
        <p:spPr>
          <a:xfrm>
            <a:off x="7114032" y="1828800"/>
            <a:ext cx="585216" cy="585216"/>
          </a:xfrm>
          <a:prstGeom prst="roundRect">
            <a:avLst>
              <a:gd name="adj" fmla="val 15625"/>
            </a:avLst>
          </a:prstGeom>
          <a:solidFill>
            <a:srgbClr val="1C3157"/>
          </a:solidFill>
          <a:ln w="12700">
            <a:solidFill>
              <a:srgbClr val="1C3157"/>
            </a:solidFill>
            <a:prstDash val="solid"/>
          </a:ln>
        </p:spPr>
      </p:sp>
      <p:sp>
        <p:nvSpPr>
          <p:cNvPr id="18" name="Окошко финала 1-3"/>
          <p:cNvSpPr/>
          <p:nvPr/>
        </p:nvSpPr>
        <p:spPr>
          <a:xfrm>
            <a:off x="7827264" y="1828800"/>
            <a:ext cx="585216" cy="585216"/>
          </a:xfrm>
          <a:prstGeom prst="roundRect">
            <a:avLst>
              <a:gd name="adj" fmla="val 15625"/>
            </a:avLst>
          </a:prstGeom>
          <a:solidFill>
            <a:srgbClr val="1C3157"/>
          </a:solidFill>
          <a:ln w="12700">
            <a:solidFill>
              <a:srgbClr val="1C3157"/>
            </a:solidFill>
            <a:prstDash val="solid"/>
          </a:ln>
        </p:spPr>
      </p:sp>
      <p:sp>
        <p:nvSpPr>
          <p:cNvPr id="19" name="Окошко финала 2-1"/>
          <p:cNvSpPr/>
          <p:nvPr/>
        </p:nvSpPr>
        <p:spPr>
          <a:xfrm>
            <a:off x="6400800" y="2542032"/>
            <a:ext cx="585216" cy="585216"/>
          </a:xfrm>
          <a:prstGeom prst="roundRect">
            <a:avLst>
              <a:gd name="adj" fmla="val 15625"/>
            </a:avLst>
          </a:prstGeom>
          <a:solidFill>
            <a:srgbClr val="1C3157"/>
          </a:solidFill>
          <a:ln w="12700">
            <a:solidFill>
              <a:srgbClr val="1C3157"/>
            </a:solidFill>
            <a:prstDash val="solid"/>
          </a:ln>
        </p:spPr>
      </p:sp>
      <p:sp>
        <p:nvSpPr>
          <p:cNvPr id="20" name="Окошко финала 2-2"/>
          <p:cNvSpPr/>
          <p:nvPr/>
        </p:nvSpPr>
        <p:spPr>
          <a:xfrm>
            <a:off x="7114032" y="2542032"/>
            <a:ext cx="585216" cy="585216"/>
          </a:xfrm>
          <a:prstGeom prst="roundRect">
            <a:avLst>
              <a:gd name="adj" fmla="val 15625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1" name="Окошко финала 2-3"/>
          <p:cNvSpPr/>
          <p:nvPr/>
        </p:nvSpPr>
        <p:spPr>
          <a:xfrm>
            <a:off x="7827264" y="2542032"/>
            <a:ext cx="585216" cy="585216"/>
          </a:xfrm>
          <a:prstGeom prst="roundRect">
            <a:avLst>
              <a:gd name="adj" fmla="val 15625"/>
            </a:avLst>
          </a:prstGeom>
          <a:solidFill>
            <a:srgbClr val="1C3157"/>
          </a:solidFill>
          <a:ln w="12700">
            <a:solidFill>
              <a:srgbClr val="1C3157"/>
            </a:solidFill>
            <a:prstDash val="solid"/>
          </a:ln>
        </p:spPr>
      </p:sp>
      <p:sp>
        <p:nvSpPr>
          <p:cNvPr id="22" name="Окошко финала 3-1"/>
          <p:cNvSpPr/>
          <p:nvPr/>
        </p:nvSpPr>
        <p:spPr>
          <a:xfrm>
            <a:off x="6400800" y="3255264"/>
            <a:ext cx="585216" cy="585216"/>
          </a:xfrm>
          <a:prstGeom prst="roundRect">
            <a:avLst>
              <a:gd name="adj" fmla="val 15625"/>
            </a:avLst>
          </a:prstGeom>
          <a:solidFill>
            <a:srgbClr val="1C3157"/>
          </a:solidFill>
          <a:ln w="12700">
            <a:solidFill>
              <a:srgbClr val="1C3157"/>
            </a:solidFill>
            <a:prstDash val="solid"/>
          </a:ln>
        </p:spPr>
      </p:sp>
      <p:sp>
        <p:nvSpPr>
          <p:cNvPr id="23" name="Окошко финала 3-2"/>
          <p:cNvSpPr/>
          <p:nvPr/>
        </p:nvSpPr>
        <p:spPr>
          <a:xfrm>
            <a:off x="7114032" y="3255264"/>
            <a:ext cx="585216" cy="585216"/>
          </a:xfrm>
          <a:prstGeom prst="roundRect">
            <a:avLst>
              <a:gd name="adj" fmla="val 15625"/>
            </a:avLst>
          </a:prstGeom>
          <a:solidFill>
            <a:srgbClr val="1C3157"/>
          </a:solidFill>
          <a:ln w="12700">
            <a:solidFill>
              <a:srgbClr val="1C3157"/>
            </a:solidFill>
            <a:prstDash val="solid"/>
          </a:ln>
        </p:spPr>
      </p:sp>
      <p:sp>
        <p:nvSpPr>
          <p:cNvPr id="24" name="Окошко финала 3-3"/>
          <p:cNvSpPr/>
          <p:nvPr/>
        </p:nvSpPr>
        <p:spPr>
          <a:xfrm>
            <a:off x="7827264" y="3255264"/>
            <a:ext cx="585216" cy="585216"/>
          </a:xfrm>
          <a:prstGeom prst="roundRect">
            <a:avLst>
              <a:gd name="adj" fmla="val 15625"/>
            </a:avLst>
          </a:prstGeom>
          <a:solidFill>
            <a:srgbClr val="1C3157"/>
          </a:solidFill>
          <a:ln w="12700">
            <a:solidFill>
              <a:srgbClr val="1C315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17920" y="40690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Спасибо!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Деловой синий">
  <a:themeElements>
    <a:clrScheme name="Деловой синий">
      <a:dk1>
        <a:srgbClr val="0E1E3A"/>
      </a:dk1>
      <a:lt1>
        <a:srgbClr val="FFFFFF"/>
      </a:lt1>
      <a:dk2>
        <a:srgbClr val="5B6577"/>
      </a:dk2>
      <a:lt2>
        <a:srgbClr val="F3F5F9"/>
      </a:lt2>
      <a:accent1>
        <a:srgbClr val="2F6BFF"/>
      </a:accent1>
      <a:accent2>
        <a:srgbClr val="E8A33D"/>
      </a:accent2>
      <a:accent3>
        <a:srgbClr val="17A589"/>
      </a:accent3>
      <a:accent4>
        <a:srgbClr val="8FA3C7"/>
      </a:accent4>
      <a:accent5>
        <a:srgbClr val="0E1E3A"/>
      </a:accent5>
      <a:accent6>
        <a:srgbClr val="D6455D"/>
      </a:accent6>
      <a:hlink>
        <a:srgbClr val="2F6BFF"/>
      </a:hlink>
      <a:folHlink>
        <a:srgbClr val="5B6577"/>
      </a:folHlink>
    </a:clrScheme>
    <a:fontScheme name="Деловой синий">
      <a:majorFont>
        <a:latin typeface="Segoe UI Semibo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Окошко — онлайн-запись для малого бизнеса. Презентация для партнёров</dc:title>
  <dc:subject>PptxGenJS Presentation</dc:subject>
  <dc:creator>Ирина Шушкова</dc:creator>
  <cp:lastModifiedBy>Ирина Шушкова</cp:lastModifiedBy>
  <cp:revision>1</cp:revision>
  <dcterms:created xsi:type="dcterms:W3CDTF">2026-10-27T11:57:16Z</dcterms:created>
  <dcterms:modified xsi:type="dcterms:W3CDTF">2026-10-27T11:57:16Z</dcterms:modified>
</cp:coreProperties>
</file>