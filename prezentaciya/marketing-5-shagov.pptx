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Начало" id="{c0869b89-1a70-5afb-0632-605cdfb16172}">
          <p14:sldIdLst>
            <p14:sldId id="256"/>
          </p14:sldIdLst>
        </p14:section>
        <p14:section name="План" id="{0ba75232-0b4d-d7ff-7044-cc35e094645b}">
          <p14:sldIdLst>
            <p14:sldId id="257"/>
          </p14:sldIdLst>
        </p14:section>
        <p14:section name="Шаги" id="{5c1a8e9c-601c-c31d-92ec-e6530c98d72c}">
          <p14:sldIdLst>
            <p14:sldId id="258"/>
            <p14:sldId id="259"/>
            <p14:sldId id="260"/>
            <p14:sldId id="261"/>
            <p14:sldId id="262"/>
          </p14:sldIdLst>
        </p14:section>
        <p14:section name="Итоги" id="{97c942b8-c5cf-355d-8069-f07cd8a6a317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C124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C1240"/>
                </a:solidFill>
                <a:latin typeface="+mn-lt"/>
              </a:rPr>
              <a:t>Заявки за месяц по каналам (пример)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Заявки</c:v>
                </c:pt>
              </c:strCache>
            </c:strRef>
          </c:tx>
          <c:spPr>
            <a:solidFill>
              <a:srgbClr val="6C4D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12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C4D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8B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9C3A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4F6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Сайт</c:v>
                  </c:pt>
                  <c:pt idx="1">
                    <c:v>Telegram</c:v>
                  </c:pt>
                  <c:pt idx="2">
                    <c:v>Сарафан</c:v>
                  </c:pt>
                  <c:pt idx="3">
                    <c:v>Карты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9</c:v>
                </c:pt>
                <c:pt idx="2">
                  <c:v>15</c:v>
                </c:pt>
                <c:pt idx="3">
                  <c:v>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C124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C12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Добрый день! Сегодня — практичная лекция: пять шагов, которые помогают малому бизнесу получить первых клиентов без большого бюджета.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Коротко пройдёмся по плану. Важно: шаги идут по порядку — без понимания клиента не получится ни УТП, ни выбор каналов.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Опишите одного реального клиента, а не «всех от 18 до 65». Три вопроса: какую задачу он решает, где ищет решение и что его останавливает.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УТП — это ответ на вопрос «почему именно вы». Формула: для кого, что получит, почему мы. Хороший тест: подходит ли эта фраза конкуренту? Если да — переписываем.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нужно быть везде. Для старта хватит двух каналов: туда, где ваш клиент уже ищет решение. Для локального бизнеса почти всегда это карты.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каждом этапе часть людей уходит. Задача — найти, где теряется больше всего, и чинить именно это место. Самый недооценённый этап — «вернулся».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Цифры на графике — пример. Достаточно простой таблицы: дата, имя, откуда пришёл, сумма. Через месяц решения принимаются по данным, а не по ощущениям.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ошибки, которые встречаются чаще всего, и простая замена для каждой.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действия на завтра. Не пытайтесь сделать всё сразу — начните с первого. Спасибо, отвечу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">
    <p:bg>
      <p:bgPr>
        <a:solidFill>
          <a:srgbClr val="1C1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63240"/>
            <a:ext cx="56692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FFC53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онтент">
    <p:bg>
      <p:bgPr>
        <a:solidFill>
          <a:srgbClr val="F4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ёмный финал">
    <p:bg>
      <p:bgPr>
        <a:solidFill>
          <a:srgbClr val="1C1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554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4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Маркетинг для малого бизнеса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6324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FC531"/>
                </a:solidFill>
              </a:rPr>
              <a:t>5 шагов к первым клиентам</a:t>
            </a:r>
            <a:endParaRPr lang="en-US" sz="2000" dirty="0"/>
          </a:p>
        </p:txBody>
      </p:sp>
      <p:sp>
        <p:nvSpPr>
          <p:cNvPr id="4" name="Подзаголовок события"/>
          <p:cNvSpPr txBox="1"/>
          <p:nvPr/>
        </p:nvSpPr>
        <p:spPr>
          <a:xfrm>
            <a:off x="5486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2F0"/>
                </a:solidFill>
              </a:rPr>
              <a:t>Лекция для предпринимателей</a:t>
            </a:r>
            <a:endParaRPr lang="en-US" sz="1400" dirty="0"/>
          </a:p>
        </p:txBody>
      </p:sp>
      <p:sp>
        <p:nvSpPr>
          <p:cNvPr id="5" name="Декоративный круг 1"/>
          <p:cNvSpPr/>
          <p:nvPr/>
        </p:nvSpPr>
        <p:spPr>
          <a:xfrm>
            <a:off x="6583680" y="548640"/>
            <a:ext cx="1920240" cy="1920240"/>
          </a:xfrm>
          <a:prstGeom prst="ellipse">
            <a:avLst/>
          </a:prstGeom>
          <a:solidFill>
            <a:srgbClr val="FF4F6E"/>
          </a:solidFill>
          <a:ln w="12700">
            <a:solidFill>
              <a:srgbClr val="FF4F6E"/>
            </a:solidFill>
            <a:prstDash val="solid"/>
          </a:ln>
        </p:spPr>
      </p:sp>
      <p:sp>
        <p:nvSpPr>
          <p:cNvPr id="6" name="Декоративный круг 2"/>
          <p:cNvSpPr/>
          <p:nvPr/>
        </p:nvSpPr>
        <p:spPr>
          <a:xfrm>
            <a:off x="7726680" y="2148840"/>
            <a:ext cx="1097280" cy="1097280"/>
          </a:xfrm>
          <a:prstGeom prst="ellipse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7" name="Декоративный круг 3"/>
          <p:cNvSpPr/>
          <p:nvPr/>
        </p:nvSpPr>
        <p:spPr>
          <a:xfrm>
            <a:off x="6355080" y="2880360"/>
            <a:ext cx="1325880" cy="1325880"/>
          </a:xfrm>
          <a:prstGeom prst="ellipse">
            <a:avLst/>
          </a:prstGeom>
          <a:solidFill>
            <a:srgbClr val="19C3A6"/>
          </a:solidFill>
          <a:ln w="12700">
            <a:solidFill>
              <a:srgbClr val="19C3A6"/>
            </a:solidFill>
            <a:prstDash val="solid"/>
          </a:ln>
        </p:spPr>
      </p:sp>
      <p:sp>
        <p:nvSpPr>
          <p:cNvPr id="8" name="Декоративный круг 4"/>
          <p:cNvSpPr/>
          <p:nvPr/>
        </p:nvSpPr>
        <p:spPr>
          <a:xfrm>
            <a:off x="7818120" y="3520440"/>
            <a:ext cx="640080" cy="640080"/>
          </a:xfrm>
          <a:prstGeom prst="ellipse">
            <a:avLst/>
          </a:prstGeom>
          <a:solidFill>
            <a:srgbClr val="6C4DFF"/>
          </a:solidFill>
          <a:ln w="12700">
            <a:solidFill>
              <a:srgbClr val="6C4DFF"/>
            </a:solidFill>
            <a:prstDash val="solid"/>
          </a:ln>
        </p:spPr>
      </p:sp>
      <p:pic>
        <p:nvPicPr>
          <p:cNvPr id="9" name="Иконка ракеты" descr="Ракет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024128"/>
            <a:ext cx="969264" cy="9692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шагов, о которых поговорим</a:t>
            </a:r>
            <a:endParaRPr lang="en-US" sz="2600" dirty="0"/>
          </a:p>
        </p:txBody>
      </p:sp>
      <p:sp>
        <p:nvSpPr>
          <p:cNvPr id="3" name="Шаг 1 — круг"/>
          <p:cNvSpPr/>
          <p:nvPr/>
        </p:nvSpPr>
        <p:spPr>
          <a:xfrm>
            <a:off x="822960" y="1417320"/>
            <a:ext cx="914400" cy="914400"/>
          </a:xfrm>
          <a:prstGeom prst="ellipse">
            <a:avLst/>
          </a:prstGeom>
          <a:solidFill>
            <a:srgbClr val="FF4F6E"/>
          </a:solidFill>
          <a:ln w="12700">
            <a:solidFill>
              <a:srgbClr val="FF4F6E"/>
            </a:solidFill>
            <a:prstDash val="solid"/>
          </a:ln>
        </p:spPr>
      </p:sp>
      <p:sp>
        <p:nvSpPr>
          <p:cNvPr id="4" name="Шаг 1 — номер"/>
          <p:cNvSpPr txBox="1"/>
          <p:nvPr/>
        </p:nvSpPr>
        <p:spPr>
          <a:xfrm>
            <a:off x="82296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200" dirty="0"/>
          </a:p>
        </p:txBody>
      </p:sp>
      <p:sp>
        <p:nvSpPr>
          <p:cNvPr id="5" name="Шаг 1 — название"/>
          <p:cNvSpPr txBox="1"/>
          <p:nvPr/>
        </p:nvSpPr>
        <p:spPr>
          <a:xfrm>
            <a:off x="548640" y="251460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240"/>
                </a:solidFill>
              </a:rPr>
              <a:t>Понять клиента</a:t>
            </a:r>
            <a:endParaRPr lang="en-US" sz="1500" dirty="0"/>
          </a:p>
        </p:txBody>
      </p:sp>
      <p:sp>
        <p:nvSpPr>
          <p:cNvPr id="6" name="Стрелка"/>
          <p:cNvSpPr/>
          <p:nvPr/>
        </p:nvSpPr>
        <p:spPr>
          <a:xfrm>
            <a:off x="1892808" y="1764792"/>
            <a:ext cx="201168" cy="237744"/>
          </a:xfrm>
          <a:prstGeom prst="chevron">
            <a:avLst/>
          </a:prstGeom>
          <a:solidFill>
            <a:srgbClr val="C9C2F0"/>
          </a:solidFill>
          <a:ln w="12700">
            <a:solidFill>
              <a:srgbClr val="C9C2F0"/>
            </a:solidFill>
            <a:prstDash val="solid"/>
          </a:ln>
        </p:spPr>
      </p:sp>
      <p:sp>
        <p:nvSpPr>
          <p:cNvPr id="7" name="Шаг 2 — круг"/>
          <p:cNvSpPr/>
          <p:nvPr/>
        </p:nvSpPr>
        <p:spPr>
          <a:xfrm>
            <a:off x="2468880" y="1417320"/>
            <a:ext cx="914400" cy="914400"/>
          </a:xfrm>
          <a:prstGeom prst="ellipse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8" name="Шаг 2 — номер"/>
          <p:cNvSpPr txBox="1"/>
          <p:nvPr/>
        </p:nvSpPr>
        <p:spPr>
          <a:xfrm>
            <a:off x="246888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C12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200" dirty="0"/>
          </a:p>
        </p:txBody>
      </p:sp>
      <p:sp>
        <p:nvSpPr>
          <p:cNvPr id="9" name="Шаг 2 — название"/>
          <p:cNvSpPr txBox="1"/>
          <p:nvPr/>
        </p:nvSpPr>
        <p:spPr>
          <a:xfrm>
            <a:off x="2194560" y="251460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240"/>
                </a:solidFill>
              </a:rPr>
              <a:t>Найти своё УТП</a:t>
            </a:r>
            <a:endParaRPr lang="en-US" sz="1500" dirty="0"/>
          </a:p>
        </p:txBody>
      </p:sp>
      <p:sp>
        <p:nvSpPr>
          <p:cNvPr id="10" name="Стрелка"/>
          <p:cNvSpPr/>
          <p:nvPr/>
        </p:nvSpPr>
        <p:spPr>
          <a:xfrm>
            <a:off x="3538728" y="1764792"/>
            <a:ext cx="201168" cy="237744"/>
          </a:xfrm>
          <a:prstGeom prst="chevron">
            <a:avLst/>
          </a:prstGeom>
          <a:solidFill>
            <a:srgbClr val="C9C2F0"/>
          </a:solidFill>
          <a:ln w="12700">
            <a:solidFill>
              <a:srgbClr val="C9C2F0"/>
            </a:solidFill>
            <a:prstDash val="solid"/>
          </a:ln>
        </p:spPr>
      </p:sp>
      <p:sp>
        <p:nvSpPr>
          <p:cNvPr id="11" name="Шаг 3 — круг"/>
          <p:cNvSpPr/>
          <p:nvPr/>
        </p:nvSpPr>
        <p:spPr>
          <a:xfrm>
            <a:off x="4114800" y="1417320"/>
            <a:ext cx="914400" cy="914400"/>
          </a:xfrm>
          <a:prstGeom prst="ellipse">
            <a:avLst/>
          </a:prstGeom>
          <a:solidFill>
            <a:srgbClr val="19C3A6"/>
          </a:solidFill>
          <a:ln w="12700">
            <a:solidFill>
              <a:srgbClr val="19C3A6"/>
            </a:solidFill>
            <a:prstDash val="solid"/>
          </a:ln>
        </p:spPr>
      </p:sp>
      <p:sp>
        <p:nvSpPr>
          <p:cNvPr id="12" name="Шаг 3 — номер"/>
          <p:cNvSpPr txBox="1"/>
          <p:nvPr/>
        </p:nvSpPr>
        <p:spPr>
          <a:xfrm>
            <a:off x="411480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200" dirty="0"/>
          </a:p>
        </p:txBody>
      </p:sp>
      <p:sp>
        <p:nvSpPr>
          <p:cNvPr id="13" name="Шаг 3 — название"/>
          <p:cNvSpPr txBox="1"/>
          <p:nvPr/>
        </p:nvSpPr>
        <p:spPr>
          <a:xfrm>
            <a:off x="3840480" y="251460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240"/>
                </a:solidFill>
              </a:rPr>
              <a:t>Выбрать каналы</a:t>
            </a:r>
            <a:endParaRPr lang="en-US" sz="1500" dirty="0"/>
          </a:p>
        </p:txBody>
      </p:sp>
      <p:sp>
        <p:nvSpPr>
          <p:cNvPr id="14" name="Стрелка"/>
          <p:cNvSpPr/>
          <p:nvPr/>
        </p:nvSpPr>
        <p:spPr>
          <a:xfrm>
            <a:off x="5184648" y="1764792"/>
            <a:ext cx="201168" cy="237744"/>
          </a:xfrm>
          <a:prstGeom prst="chevron">
            <a:avLst/>
          </a:prstGeom>
          <a:solidFill>
            <a:srgbClr val="C9C2F0"/>
          </a:solidFill>
          <a:ln w="12700">
            <a:solidFill>
              <a:srgbClr val="C9C2F0"/>
            </a:solidFill>
            <a:prstDash val="solid"/>
          </a:ln>
        </p:spPr>
      </p:sp>
      <p:sp>
        <p:nvSpPr>
          <p:cNvPr id="15" name="Шаг 4 — круг"/>
          <p:cNvSpPr/>
          <p:nvPr/>
        </p:nvSpPr>
        <p:spPr>
          <a:xfrm>
            <a:off x="5760720" y="1417320"/>
            <a:ext cx="914400" cy="914400"/>
          </a:xfrm>
          <a:prstGeom prst="ellipse">
            <a:avLst/>
          </a:prstGeom>
          <a:solidFill>
            <a:srgbClr val="6C4DFF"/>
          </a:solidFill>
          <a:ln w="12700">
            <a:solidFill>
              <a:srgbClr val="6C4DFF"/>
            </a:solidFill>
            <a:prstDash val="solid"/>
          </a:ln>
        </p:spPr>
      </p:sp>
      <p:sp>
        <p:nvSpPr>
          <p:cNvPr id="16" name="Шаг 4 — номер"/>
          <p:cNvSpPr txBox="1"/>
          <p:nvPr/>
        </p:nvSpPr>
        <p:spPr>
          <a:xfrm>
            <a:off x="576072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200" dirty="0"/>
          </a:p>
        </p:txBody>
      </p:sp>
      <p:sp>
        <p:nvSpPr>
          <p:cNvPr id="17" name="Шаг 4 — название"/>
          <p:cNvSpPr txBox="1"/>
          <p:nvPr/>
        </p:nvSpPr>
        <p:spPr>
          <a:xfrm>
            <a:off x="5486400" y="251460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240"/>
                </a:solidFill>
              </a:rPr>
              <a:t>Построить воронку</a:t>
            </a:r>
            <a:endParaRPr lang="en-US" sz="1500" dirty="0"/>
          </a:p>
        </p:txBody>
      </p:sp>
      <p:sp>
        <p:nvSpPr>
          <p:cNvPr id="18" name="Стрелка"/>
          <p:cNvSpPr/>
          <p:nvPr/>
        </p:nvSpPr>
        <p:spPr>
          <a:xfrm>
            <a:off x="6830568" y="1764792"/>
            <a:ext cx="201168" cy="237744"/>
          </a:xfrm>
          <a:prstGeom prst="chevron">
            <a:avLst/>
          </a:prstGeom>
          <a:solidFill>
            <a:srgbClr val="C9C2F0"/>
          </a:solidFill>
          <a:ln w="12700">
            <a:solidFill>
              <a:srgbClr val="C9C2F0"/>
            </a:solidFill>
            <a:prstDash val="solid"/>
          </a:ln>
        </p:spPr>
      </p:sp>
      <p:sp>
        <p:nvSpPr>
          <p:cNvPr id="19" name="Шаг 5 — круг"/>
          <p:cNvSpPr/>
          <p:nvPr/>
        </p:nvSpPr>
        <p:spPr>
          <a:xfrm>
            <a:off x="7406640" y="1417320"/>
            <a:ext cx="914400" cy="914400"/>
          </a:xfrm>
          <a:prstGeom prst="ellipse">
            <a:avLst/>
          </a:prstGeom>
          <a:solidFill>
            <a:srgbClr val="2E8BFF"/>
          </a:solidFill>
          <a:ln w="12700">
            <a:solidFill>
              <a:srgbClr val="2E8BFF"/>
            </a:solidFill>
            <a:prstDash val="solid"/>
          </a:ln>
        </p:spPr>
      </p:sp>
      <p:sp>
        <p:nvSpPr>
          <p:cNvPr id="20" name="Шаг 5 — номер"/>
          <p:cNvSpPr txBox="1"/>
          <p:nvPr/>
        </p:nvSpPr>
        <p:spPr>
          <a:xfrm>
            <a:off x="740664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200" dirty="0"/>
          </a:p>
        </p:txBody>
      </p:sp>
      <p:sp>
        <p:nvSpPr>
          <p:cNvPr id="21" name="Шаг 5 — название"/>
          <p:cNvSpPr txBox="1"/>
          <p:nvPr/>
        </p:nvSpPr>
        <p:spPr>
          <a:xfrm>
            <a:off x="7132320" y="251460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240"/>
                </a:solidFill>
              </a:rPr>
              <a:t>Считать результат</a:t>
            </a:r>
            <a:endParaRPr lang="en-US" sz="1500" dirty="0"/>
          </a:p>
        </p:txBody>
      </p:sp>
      <p:sp>
        <p:nvSpPr>
          <p:cNvPr id="22" name="Плашка-вывод"/>
          <p:cNvSpPr/>
          <p:nvPr/>
        </p:nvSpPr>
        <p:spPr>
          <a:xfrm>
            <a:off x="548640" y="3520440"/>
            <a:ext cx="80467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1C1240">
                <a:alpha val="12000"/>
              </a:srgbClr>
            </a:outerShdw>
          </a:effectLst>
        </p:spPr>
      </p:sp>
      <p:sp>
        <p:nvSpPr>
          <p:cNvPr id="23" name="Вывод"/>
          <p:cNvSpPr txBox="1"/>
          <p:nvPr/>
        </p:nvSpPr>
        <p:spPr>
          <a:xfrm>
            <a:off x="777240" y="3520440"/>
            <a:ext cx="7589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4F6E"/>
                </a:solidFill>
              </a:rPr>
              <a:t>Главная мысль: </a:t>
            </a:r>
            <a:pPr indent="0" marL="0">
              <a:buNone/>
            </a:pPr>
            <a:r>
              <a:rPr lang="en-US" sz="1500" dirty="0">
                <a:solidFill>
                  <a:srgbClr val="1C1240"/>
                </a:solidFill>
              </a:rPr>
              <a:t>маркетинг малого бизнеса — это не бюджет, а последовательность. Каждый шаг опирается на предыдущий.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шага"/>
          <p:cNvSpPr/>
          <p:nvPr/>
        </p:nvSpPr>
        <p:spPr>
          <a:xfrm>
            <a:off x="548640" y="109728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FF4F6E"/>
          </a:solidFill>
          <a:ln w="12700">
            <a:solidFill>
              <a:srgbClr val="FF4F6E"/>
            </a:solidFill>
            <a:prstDash val="solid"/>
          </a:ln>
        </p:spPr>
      </p:sp>
      <p:sp>
        <p:nvSpPr>
          <p:cNvPr id="3" name="Метка шага — текст"/>
          <p:cNvSpPr txBox="1"/>
          <p:nvPr/>
        </p:nvSpPr>
        <p:spPr>
          <a:xfrm>
            <a:off x="548640" y="1097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ШАГ 1 ИЗ 5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Кто ваш клиент на самом деле</a:t>
            </a:r>
            <a:endParaRPr lang="en-US" sz="2600" dirty="0"/>
          </a:p>
        </p:txBody>
      </p:sp>
      <p:sp>
        <p:nvSpPr>
          <p:cNvPr id="5" name="Карточка портрета"/>
          <p:cNvSpPr/>
          <p:nvPr/>
        </p:nvSpPr>
        <p:spPr>
          <a:xfrm>
            <a:off x="548640" y="1234440"/>
            <a:ext cx="3291840" cy="3246120"/>
          </a:xfrm>
          <a:prstGeom prst="roundRect">
            <a:avLst>
              <a:gd name="adj" fmla="val 3380"/>
            </a:avLst>
          </a:prstGeom>
          <a:solidFill>
            <a:srgbClr val="FF4F6E"/>
          </a:solidFill>
          <a:ln w="12700">
            <a:solidFill>
              <a:srgbClr val="FF4F6E"/>
            </a:solidFill>
            <a:prstDash val="solid"/>
          </a:ln>
          <a:effectLst>
            <a:outerShdw sx="100000" sy="100000" kx="0" ky="0" algn="bl" rotWithShape="0" blurRad="101600" dist="38100" dir="5400000">
              <a:srgbClr val="1C1240">
                <a:alpha val="12000"/>
              </a:srgbClr>
            </a:outerShdw>
          </a:effectLst>
        </p:spPr>
      </p:sp>
      <p:sp>
        <p:nvSpPr>
          <p:cNvPr id="6" name="Иконка клиента — круг"/>
          <p:cNvSpPr/>
          <p:nvPr/>
        </p:nvSpPr>
        <p:spPr>
          <a:xfrm>
            <a:off x="1691640" y="1463040"/>
            <a:ext cx="1005840" cy="1005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Иконка клиента" descr="Иконка клиент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3158" y="1724558"/>
            <a:ext cx="482803" cy="482803"/>
          </a:xfrm>
          <a:prstGeom prst="rect">
            <a:avLst/>
          </a:prstGeom>
        </p:spPr>
      </p:pic>
      <p:sp>
        <p:nvSpPr>
          <p:cNvPr id="8" name="Имя персонажа"/>
          <p:cNvSpPr txBox="1"/>
          <p:nvPr/>
        </p:nvSpPr>
        <p:spPr>
          <a:xfrm>
            <a:off x="731520" y="26060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Анна, 34 года</a:t>
            </a:r>
            <a:endParaRPr lang="en-US" sz="1800" dirty="0"/>
          </a:p>
        </p:txBody>
      </p:sp>
      <p:sp>
        <p:nvSpPr>
          <p:cNvPr id="9" name="Описание персонажа"/>
          <p:cNvSpPr txBox="1"/>
          <p:nvPr/>
        </p:nvSpPr>
        <p:spPr>
          <a:xfrm>
            <a:off x="777240" y="301752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мама двоих детей, работает удалённо, выбирает услуги по отзывам на картах и в чатах района</a:t>
            </a:r>
            <a:endParaRPr lang="en-US" sz="1400" dirty="0"/>
          </a:p>
        </p:txBody>
      </p:sp>
      <p:sp>
        <p:nvSpPr>
          <p:cNvPr id="10" name="Вопрос 1"/>
          <p:cNvSpPr/>
          <p:nvPr/>
        </p:nvSpPr>
        <p:spPr>
          <a:xfrm>
            <a:off x="4114800" y="1234440"/>
            <a:ext cx="44805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1C1240">
                <a:alpha val="12000"/>
              </a:srgbClr>
            </a:outerShdw>
          </a:effectLst>
        </p:spPr>
      </p:sp>
      <p:sp>
        <p:nvSpPr>
          <p:cNvPr id="11" name="Вопрос 1 — заголовок"/>
          <p:cNvSpPr txBox="1"/>
          <p:nvPr/>
        </p:nvSpPr>
        <p:spPr>
          <a:xfrm>
            <a:off x="4343400" y="13441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4F6E"/>
                </a:solidFill>
              </a:rPr>
              <a:t>Какую задачу решает?</a:t>
            </a:r>
            <a:endParaRPr lang="en-US" sz="1500" dirty="0"/>
          </a:p>
        </p:txBody>
      </p:sp>
      <p:sp>
        <p:nvSpPr>
          <p:cNvPr id="12" name="Вопрос 1 — ответ"/>
          <p:cNvSpPr txBox="1"/>
          <p:nvPr/>
        </p:nvSpPr>
        <p:spPr>
          <a:xfrm>
            <a:off x="4343400" y="167335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240"/>
                </a:solidFill>
              </a:rPr>
              <a:t>Не «купить торт», а «устроить праздник без хлопот».</a:t>
            </a:r>
            <a:endParaRPr lang="en-US" sz="1400" dirty="0"/>
          </a:p>
        </p:txBody>
      </p:sp>
      <p:sp>
        <p:nvSpPr>
          <p:cNvPr id="13" name="Вопрос 2"/>
          <p:cNvSpPr/>
          <p:nvPr/>
        </p:nvSpPr>
        <p:spPr>
          <a:xfrm>
            <a:off x="4114800" y="2331720"/>
            <a:ext cx="44805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1C1240">
                <a:alpha val="12000"/>
              </a:srgbClr>
            </a:outerShdw>
          </a:effectLst>
        </p:spPr>
      </p:sp>
      <p:sp>
        <p:nvSpPr>
          <p:cNvPr id="14" name="Вопрос 2 — заголовок"/>
          <p:cNvSpPr txBox="1"/>
          <p:nvPr/>
        </p:nvSpPr>
        <p:spPr>
          <a:xfrm>
            <a:off x="4343400" y="24414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4F6E"/>
                </a:solidFill>
              </a:rPr>
              <a:t>Где ищет решение?</a:t>
            </a:r>
            <a:endParaRPr lang="en-US" sz="1500" dirty="0"/>
          </a:p>
        </p:txBody>
      </p:sp>
      <p:sp>
        <p:nvSpPr>
          <p:cNvPr id="15" name="Вопрос 2 — ответ"/>
          <p:cNvSpPr txBox="1"/>
          <p:nvPr/>
        </p:nvSpPr>
        <p:spPr>
          <a:xfrm>
            <a:off x="4343400" y="27706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240"/>
                </a:solidFill>
              </a:rPr>
              <a:t>Яндекс Карты, чаты дома, советы подруг.</a:t>
            </a:r>
            <a:endParaRPr lang="en-US" sz="1400" dirty="0"/>
          </a:p>
        </p:txBody>
      </p:sp>
      <p:sp>
        <p:nvSpPr>
          <p:cNvPr id="16" name="Вопрос 3"/>
          <p:cNvSpPr/>
          <p:nvPr/>
        </p:nvSpPr>
        <p:spPr>
          <a:xfrm>
            <a:off x="4114800" y="3429000"/>
            <a:ext cx="44805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1C1240">
                <a:alpha val="12000"/>
              </a:srgbClr>
            </a:outerShdw>
          </a:effectLst>
        </p:spPr>
      </p:sp>
      <p:sp>
        <p:nvSpPr>
          <p:cNvPr id="17" name="Вопрос 3 — заголовок"/>
          <p:cNvSpPr txBox="1"/>
          <p:nvPr/>
        </p:nvSpPr>
        <p:spPr>
          <a:xfrm>
            <a:off x="4343400" y="35387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4F6E"/>
                </a:solidFill>
              </a:rPr>
              <a:t>Что её останавливает?</a:t>
            </a:r>
            <a:endParaRPr lang="en-US" sz="1500" dirty="0"/>
          </a:p>
        </p:txBody>
      </p:sp>
      <p:sp>
        <p:nvSpPr>
          <p:cNvPr id="18" name="Вопрос 3 — ответ"/>
          <p:cNvSpPr txBox="1"/>
          <p:nvPr/>
        </p:nvSpPr>
        <p:spPr>
          <a:xfrm>
            <a:off x="4343400" y="386791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240"/>
                </a:solidFill>
              </a:rPr>
              <a:t>Страх переплатить и потерять время.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шага"/>
          <p:cNvSpPr/>
          <p:nvPr/>
        </p:nvSpPr>
        <p:spPr>
          <a:xfrm>
            <a:off x="548640" y="109728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3" name="Метка шага — текст"/>
          <p:cNvSpPr txBox="1"/>
          <p:nvPr/>
        </p:nvSpPr>
        <p:spPr>
          <a:xfrm>
            <a:off x="548640" y="1097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240"/>
                </a:solidFill>
              </a:rPr>
              <a:t>ШАГ 2 ИЗ 5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УТП в одну фразу</a:t>
            </a:r>
            <a:endParaRPr lang="en-US" sz="2600" dirty="0"/>
          </a:p>
        </p:txBody>
      </p:sp>
      <p:sp>
        <p:nvSpPr>
          <p:cNvPr id="5" name="Формула — Для кого"/>
          <p:cNvSpPr/>
          <p:nvPr/>
        </p:nvSpPr>
        <p:spPr>
          <a:xfrm>
            <a:off x="548640" y="1280160"/>
            <a:ext cx="2514600" cy="777240"/>
          </a:xfrm>
          <a:prstGeom prst="roundRect">
            <a:avLst>
              <a:gd name="adj" fmla="val 49412"/>
            </a:avLst>
          </a:prstGeom>
          <a:solidFill>
            <a:srgbClr val="FF4F6E"/>
          </a:solidFill>
          <a:ln w="12700">
            <a:solidFill>
              <a:srgbClr val="FF4F6E"/>
            </a:solidFill>
            <a:prstDash val="solid"/>
          </a:ln>
        </p:spPr>
      </p:sp>
      <p:sp>
        <p:nvSpPr>
          <p:cNvPr id="6" name="Формула — Для кого — текст"/>
          <p:cNvSpPr txBox="1"/>
          <p:nvPr/>
        </p:nvSpPr>
        <p:spPr>
          <a:xfrm>
            <a:off x="548640" y="12801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Для кого</a:t>
            </a:r>
            <a:endParaRPr lang="en-US" sz="1700" dirty="0"/>
          </a:p>
        </p:txBody>
      </p:sp>
      <p:sp>
        <p:nvSpPr>
          <p:cNvPr id="7" name="Плюс"/>
          <p:cNvSpPr txBox="1"/>
          <p:nvPr/>
        </p:nvSpPr>
        <p:spPr>
          <a:xfrm>
            <a:off x="3063240" y="1280160"/>
            <a:ext cx="228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4466"/>
                </a:solidFill>
              </a:rPr>
              <a:t>+</a:t>
            </a:r>
            <a:endParaRPr lang="en-US" sz="2200" dirty="0"/>
          </a:p>
        </p:txBody>
      </p:sp>
      <p:sp>
        <p:nvSpPr>
          <p:cNvPr id="8" name="Формула — Что получит"/>
          <p:cNvSpPr/>
          <p:nvPr/>
        </p:nvSpPr>
        <p:spPr>
          <a:xfrm>
            <a:off x="3291840" y="1280160"/>
            <a:ext cx="2514600" cy="777240"/>
          </a:xfrm>
          <a:prstGeom prst="roundRect">
            <a:avLst>
              <a:gd name="adj" fmla="val 49412"/>
            </a:avLst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9" name="Формула — Что получит — текст"/>
          <p:cNvSpPr txBox="1"/>
          <p:nvPr/>
        </p:nvSpPr>
        <p:spPr>
          <a:xfrm>
            <a:off x="3291840" y="12801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C12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получит</a:t>
            </a:r>
            <a:endParaRPr lang="en-US" sz="1700" dirty="0"/>
          </a:p>
        </p:txBody>
      </p:sp>
      <p:sp>
        <p:nvSpPr>
          <p:cNvPr id="10" name="Плюс"/>
          <p:cNvSpPr txBox="1"/>
          <p:nvPr/>
        </p:nvSpPr>
        <p:spPr>
          <a:xfrm>
            <a:off x="5806440" y="1280160"/>
            <a:ext cx="228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4466"/>
                </a:solidFill>
              </a:rPr>
              <a:t>+</a:t>
            </a:r>
            <a:endParaRPr lang="en-US" sz="2200" dirty="0"/>
          </a:p>
        </p:txBody>
      </p:sp>
      <p:sp>
        <p:nvSpPr>
          <p:cNvPr id="11" name="Формула — Почему мы"/>
          <p:cNvSpPr/>
          <p:nvPr/>
        </p:nvSpPr>
        <p:spPr>
          <a:xfrm>
            <a:off x="6035040" y="1280160"/>
            <a:ext cx="2514600" cy="777240"/>
          </a:xfrm>
          <a:prstGeom prst="roundRect">
            <a:avLst>
              <a:gd name="adj" fmla="val 49412"/>
            </a:avLst>
          </a:prstGeom>
          <a:solidFill>
            <a:srgbClr val="19C3A6"/>
          </a:solidFill>
          <a:ln w="12700">
            <a:solidFill>
              <a:srgbClr val="19C3A6"/>
            </a:solidFill>
            <a:prstDash val="solid"/>
          </a:ln>
        </p:spPr>
      </p:sp>
      <p:sp>
        <p:nvSpPr>
          <p:cNvPr id="12" name="Формула — Почему мы — текст"/>
          <p:cNvSpPr txBox="1"/>
          <p:nvPr/>
        </p:nvSpPr>
        <p:spPr>
          <a:xfrm>
            <a:off x="6035040" y="12801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Почему мы</a:t>
            </a:r>
            <a:endParaRPr lang="en-US" sz="1700" dirty="0"/>
          </a:p>
        </p:txBody>
      </p:sp>
      <p:sp>
        <p:nvSpPr>
          <p:cNvPr id="13" name="Пример УТП"/>
          <p:cNvSpPr/>
          <p:nvPr/>
        </p:nvSpPr>
        <p:spPr>
          <a:xfrm>
            <a:off x="548640" y="2377440"/>
            <a:ext cx="80467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1C1240">
                <a:alpha val="12000"/>
              </a:srgbClr>
            </a:outerShdw>
          </a:effectLst>
        </p:spPr>
      </p:sp>
      <p:sp>
        <p:nvSpPr>
          <p:cNvPr id="14" name="Пример УТП — текст"/>
          <p:cNvSpPr txBox="1"/>
          <p:nvPr/>
        </p:nvSpPr>
        <p:spPr>
          <a:xfrm>
            <a:off x="777240" y="2377440"/>
            <a:ext cx="7589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4DFF"/>
                </a:solidFill>
              </a:rPr>
              <a:t>Пример: </a:t>
            </a:r>
            <a:pPr indent="0" marL="0">
              <a:buNone/>
            </a:pPr>
            <a:r>
              <a:rPr lang="en-US" sz="1600" dirty="0">
                <a:solidFill>
                  <a:srgbClr val="1C1240"/>
                </a:solidFill>
              </a:rPr>
              <a:t>торты для детских праздников в Казани — с доставкой к нужному часу и фигуркой героя мультфильма. Собираем за 2 дня, а если опоздаем — вернём деньги за доставку.</a:t>
            </a:r>
            <a:endParaRPr lang="en-US" sz="1600" dirty="0"/>
          </a:p>
        </p:txBody>
      </p:sp>
      <p:sp>
        <p:nvSpPr>
          <p:cNvPr id="15" name="Проверка УТП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4466"/>
                </a:solidFill>
              </a:rPr>
              <a:t>Проверка: если фразу можно повесить на сайт конкурента — это ещё не УТП.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шага"/>
          <p:cNvSpPr/>
          <p:nvPr/>
        </p:nvSpPr>
        <p:spPr>
          <a:xfrm>
            <a:off x="548640" y="109728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19C3A6"/>
          </a:solidFill>
          <a:ln w="12700">
            <a:solidFill>
              <a:srgbClr val="19C3A6"/>
            </a:solidFill>
            <a:prstDash val="solid"/>
          </a:ln>
        </p:spPr>
      </p:sp>
      <p:sp>
        <p:nvSpPr>
          <p:cNvPr id="3" name="Метка шага — текст"/>
          <p:cNvSpPr txBox="1"/>
          <p:nvPr/>
        </p:nvSpPr>
        <p:spPr>
          <a:xfrm>
            <a:off x="548640" y="1097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ШАГ 3 ИЗ 5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Где вас найдут первые клиенты</a:t>
            </a:r>
            <a:endParaRPr lang="en-US" sz="2600" dirty="0"/>
          </a:p>
        </p:txBody>
      </p:sp>
      <p:sp>
        <p:nvSpPr>
          <p:cNvPr id="5" name="Канал 1"/>
          <p:cNvSpPr/>
          <p:nvPr/>
        </p:nvSpPr>
        <p:spPr>
          <a:xfrm>
            <a:off x="548640" y="118872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1C1240">
                <a:alpha val="12000"/>
              </a:srgbClr>
            </a:outerShdw>
          </a:effectLst>
        </p:spPr>
      </p:sp>
      <p:sp>
        <p:nvSpPr>
          <p:cNvPr id="6" name="Иконка: Карты и справочники — круг"/>
          <p:cNvSpPr/>
          <p:nvPr/>
        </p:nvSpPr>
        <p:spPr>
          <a:xfrm>
            <a:off x="777240" y="1572768"/>
            <a:ext cx="731520" cy="731520"/>
          </a:xfrm>
          <a:prstGeom prst="ellipse">
            <a:avLst/>
          </a:prstGeom>
          <a:solidFill>
            <a:srgbClr val="FF4F6E"/>
          </a:solidFill>
          <a:ln w="12700">
            <a:solidFill>
              <a:srgbClr val="FF4F6E"/>
            </a:solidFill>
            <a:prstDash val="solid"/>
          </a:ln>
        </p:spPr>
      </p:sp>
      <p:pic>
        <p:nvPicPr>
          <p:cNvPr id="7" name="Иконка: Карты и справочники" descr="Иконка: Карты и справочник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435" y="1762963"/>
            <a:ext cx="351130" cy="351130"/>
          </a:xfrm>
          <a:prstGeom prst="rect">
            <a:avLst/>
          </a:prstGeom>
        </p:spPr>
      </p:pic>
      <p:sp>
        <p:nvSpPr>
          <p:cNvPr id="8" name="Канал 1 — название"/>
          <p:cNvSpPr txBox="1"/>
          <p:nvPr/>
        </p:nvSpPr>
        <p:spPr>
          <a:xfrm>
            <a:off x="1691640" y="1417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240"/>
                </a:solidFill>
              </a:rPr>
              <a:t>Карты и справочники</a:t>
            </a:r>
            <a:endParaRPr lang="en-US" sz="1600" dirty="0"/>
          </a:p>
        </p:txBody>
      </p:sp>
      <p:sp>
        <p:nvSpPr>
          <p:cNvPr id="9" name="Канал 1 — описание"/>
          <p:cNvSpPr txBox="1"/>
          <p:nvPr/>
        </p:nvSpPr>
        <p:spPr>
          <a:xfrm>
            <a:off x="1691640" y="181051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466"/>
                </a:solidFill>
              </a:rPr>
              <a:t>Яндекс Карты и 2ГИС: адрес, часы, фото, ответы на отзывы</a:t>
            </a:r>
            <a:endParaRPr lang="en-US" sz="1400" dirty="0"/>
          </a:p>
        </p:txBody>
      </p:sp>
      <p:sp>
        <p:nvSpPr>
          <p:cNvPr id="10" name="Канал 2"/>
          <p:cNvSpPr/>
          <p:nvPr/>
        </p:nvSpPr>
        <p:spPr>
          <a:xfrm>
            <a:off x="4663440" y="118872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1C1240">
                <a:alpha val="12000"/>
              </a:srgbClr>
            </a:outerShdw>
          </a:effectLst>
        </p:spPr>
      </p:sp>
      <p:sp>
        <p:nvSpPr>
          <p:cNvPr id="11" name="Иконка: Telegram и соцсети — круг"/>
          <p:cNvSpPr/>
          <p:nvPr/>
        </p:nvSpPr>
        <p:spPr>
          <a:xfrm>
            <a:off x="4892040" y="1572768"/>
            <a:ext cx="731520" cy="731520"/>
          </a:xfrm>
          <a:prstGeom prst="ellipse">
            <a:avLst/>
          </a:prstGeom>
          <a:solidFill>
            <a:srgbClr val="2E8BFF"/>
          </a:solidFill>
          <a:ln w="12700">
            <a:solidFill>
              <a:srgbClr val="2E8BFF"/>
            </a:solidFill>
            <a:prstDash val="solid"/>
          </a:ln>
        </p:spPr>
      </p:sp>
      <p:pic>
        <p:nvPicPr>
          <p:cNvPr id="12" name="Иконка: Telegram и соцсети" descr="Иконка: Telegram и соцсет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2235" y="1762963"/>
            <a:ext cx="351130" cy="351130"/>
          </a:xfrm>
          <a:prstGeom prst="rect">
            <a:avLst/>
          </a:prstGeom>
        </p:spPr>
      </p:pic>
      <p:sp>
        <p:nvSpPr>
          <p:cNvPr id="13" name="Канал 2 — название"/>
          <p:cNvSpPr txBox="1"/>
          <p:nvPr/>
        </p:nvSpPr>
        <p:spPr>
          <a:xfrm>
            <a:off x="5806440" y="1417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240"/>
                </a:solidFill>
              </a:rPr>
              <a:t>Telegram и соцсети</a:t>
            </a:r>
            <a:endParaRPr lang="en-US" sz="1600" dirty="0"/>
          </a:p>
        </p:txBody>
      </p:sp>
      <p:sp>
        <p:nvSpPr>
          <p:cNvPr id="14" name="Канал 2 — описание"/>
          <p:cNvSpPr txBox="1"/>
          <p:nvPr/>
        </p:nvSpPr>
        <p:spPr>
          <a:xfrm>
            <a:off x="5806440" y="181051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466"/>
                </a:solidFill>
              </a:rPr>
              <a:t>Полезные посты и истории клиентов, а не только реклама</a:t>
            </a:r>
            <a:endParaRPr lang="en-US" sz="1400" dirty="0"/>
          </a:p>
        </p:txBody>
      </p:sp>
      <p:sp>
        <p:nvSpPr>
          <p:cNvPr id="15" name="Канал 3"/>
          <p:cNvSpPr/>
          <p:nvPr/>
        </p:nvSpPr>
        <p:spPr>
          <a:xfrm>
            <a:off x="548640" y="288036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1C1240">
                <a:alpha val="12000"/>
              </a:srgbClr>
            </a:outerShdw>
          </a:effectLst>
        </p:spPr>
      </p:sp>
      <p:sp>
        <p:nvSpPr>
          <p:cNvPr id="16" name="Иконка: Сарафанное радио — круг"/>
          <p:cNvSpPr/>
          <p:nvPr/>
        </p:nvSpPr>
        <p:spPr>
          <a:xfrm>
            <a:off x="777240" y="3264408"/>
            <a:ext cx="731520" cy="731520"/>
          </a:xfrm>
          <a:prstGeom prst="ellipse">
            <a:avLst/>
          </a:prstGeom>
          <a:solidFill>
            <a:srgbClr val="19C3A6"/>
          </a:solidFill>
          <a:ln w="12700">
            <a:solidFill>
              <a:srgbClr val="19C3A6"/>
            </a:solidFill>
            <a:prstDash val="solid"/>
          </a:ln>
        </p:spPr>
      </p:sp>
      <p:pic>
        <p:nvPicPr>
          <p:cNvPr id="17" name="Иконка: Сарафанное радио" descr="Иконка: Сарафанное радио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35" y="3454603"/>
            <a:ext cx="351130" cy="351130"/>
          </a:xfrm>
          <a:prstGeom prst="rect">
            <a:avLst/>
          </a:prstGeom>
        </p:spPr>
      </p:pic>
      <p:sp>
        <p:nvSpPr>
          <p:cNvPr id="18" name="Канал 3 — название"/>
          <p:cNvSpPr txBox="1"/>
          <p:nvPr/>
        </p:nvSpPr>
        <p:spPr>
          <a:xfrm>
            <a:off x="1691640" y="3108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240"/>
                </a:solidFill>
              </a:rPr>
              <a:t>Сарафанное радио</a:t>
            </a:r>
            <a:endParaRPr lang="en-US" sz="1600" dirty="0"/>
          </a:p>
        </p:txBody>
      </p:sp>
      <p:sp>
        <p:nvSpPr>
          <p:cNvPr id="19" name="Канал 3 — описание"/>
          <p:cNvSpPr txBox="1"/>
          <p:nvPr/>
        </p:nvSpPr>
        <p:spPr>
          <a:xfrm>
            <a:off x="1691640" y="350215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466"/>
                </a:solidFill>
              </a:rPr>
              <a:t>Попросите довольных клиентов об отзыве и рекомендации</a:t>
            </a:r>
            <a:endParaRPr lang="en-US" sz="1400" dirty="0"/>
          </a:p>
        </p:txBody>
      </p:sp>
      <p:sp>
        <p:nvSpPr>
          <p:cNvPr id="20" name="Канал 4"/>
          <p:cNvSpPr/>
          <p:nvPr/>
        </p:nvSpPr>
        <p:spPr>
          <a:xfrm>
            <a:off x="4663440" y="288036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1C1240">
                <a:alpha val="12000"/>
              </a:srgbClr>
            </a:outerShdw>
          </a:effectLst>
        </p:spPr>
      </p:sp>
      <p:sp>
        <p:nvSpPr>
          <p:cNvPr id="21" name="Иконка: Сайт или лендинг — круг"/>
          <p:cNvSpPr/>
          <p:nvPr/>
        </p:nvSpPr>
        <p:spPr>
          <a:xfrm>
            <a:off x="4892040" y="3264408"/>
            <a:ext cx="731520" cy="731520"/>
          </a:xfrm>
          <a:prstGeom prst="ellipse">
            <a:avLst/>
          </a:prstGeom>
          <a:solidFill>
            <a:srgbClr val="6C4DFF"/>
          </a:solidFill>
          <a:ln w="12700">
            <a:solidFill>
              <a:srgbClr val="6C4DFF"/>
            </a:solidFill>
            <a:prstDash val="solid"/>
          </a:ln>
        </p:spPr>
      </p:sp>
      <p:pic>
        <p:nvPicPr>
          <p:cNvPr id="22" name="Иконка: Сайт или лендинг" descr="Иконка: Сайт или лендинг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2235" y="3454603"/>
            <a:ext cx="351130" cy="351130"/>
          </a:xfrm>
          <a:prstGeom prst="rect">
            <a:avLst/>
          </a:prstGeom>
        </p:spPr>
      </p:pic>
      <p:sp>
        <p:nvSpPr>
          <p:cNvPr id="23" name="Канал 4 — название"/>
          <p:cNvSpPr txBox="1"/>
          <p:nvPr/>
        </p:nvSpPr>
        <p:spPr>
          <a:xfrm>
            <a:off x="5806440" y="3108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240"/>
                </a:solidFill>
              </a:rPr>
              <a:t>Сайт или лендинг</a:t>
            </a:r>
            <a:endParaRPr lang="en-US" sz="1600" dirty="0"/>
          </a:p>
        </p:txBody>
      </p:sp>
      <p:sp>
        <p:nvSpPr>
          <p:cNvPr id="24" name="Канал 4 — описание"/>
          <p:cNvSpPr txBox="1"/>
          <p:nvPr/>
        </p:nvSpPr>
        <p:spPr>
          <a:xfrm>
            <a:off x="5806440" y="350215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466"/>
                </a:solidFill>
              </a:rPr>
              <a:t>Одна страница с ценами, примерами работ и простой формой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шага"/>
          <p:cNvSpPr/>
          <p:nvPr/>
        </p:nvSpPr>
        <p:spPr>
          <a:xfrm>
            <a:off x="548640" y="109728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6C4DFF"/>
          </a:solidFill>
          <a:ln w="12700">
            <a:solidFill>
              <a:srgbClr val="6C4DFF"/>
            </a:solidFill>
            <a:prstDash val="solid"/>
          </a:ln>
        </p:spPr>
      </p:sp>
      <p:sp>
        <p:nvSpPr>
          <p:cNvPr id="3" name="Метка шага — текст"/>
          <p:cNvSpPr txBox="1"/>
          <p:nvPr/>
        </p:nvSpPr>
        <p:spPr>
          <a:xfrm>
            <a:off x="548640" y="1097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ШАГ 4 ИЗ 5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Воронка: от «увидел» до «вернулся»</a:t>
            </a:r>
            <a:endParaRPr lang="en-US" sz="2600" dirty="0"/>
          </a:p>
        </p:txBody>
      </p:sp>
      <p:sp>
        <p:nvSpPr>
          <p:cNvPr id="5" name="Воронка — Увидел"/>
          <p:cNvSpPr/>
          <p:nvPr/>
        </p:nvSpPr>
        <p:spPr>
          <a:xfrm>
            <a:off x="548640" y="1188720"/>
            <a:ext cx="4754880" cy="548640"/>
          </a:xfrm>
          <a:prstGeom prst="roundRect">
            <a:avLst>
              <a:gd name="adj" fmla="val 50000"/>
            </a:avLst>
          </a:prstGeom>
          <a:solidFill>
            <a:srgbClr val="FF4F6E"/>
          </a:solidFill>
          <a:ln w="12700">
            <a:solidFill>
              <a:srgbClr val="FF4F6E"/>
            </a:solidFill>
            <a:prstDash val="solid"/>
          </a:ln>
        </p:spPr>
      </p:sp>
      <p:sp>
        <p:nvSpPr>
          <p:cNvPr id="6" name="Воронка — Увидел — текст"/>
          <p:cNvSpPr txBox="1"/>
          <p:nvPr/>
        </p:nvSpPr>
        <p:spPr>
          <a:xfrm>
            <a:off x="548640" y="11887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Увидел</a:t>
            </a:r>
            <a:endParaRPr lang="en-US" sz="1500" dirty="0"/>
          </a:p>
        </p:txBody>
      </p:sp>
      <p:sp>
        <p:nvSpPr>
          <p:cNvPr id="7" name="Воронка — Увидел — пояснение"/>
          <p:cNvSpPr txBox="1"/>
          <p:nvPr/>
        </p:nvSpPr>
        <p:spPr>
          <a:xfrm>
            <a:off x="5577840" y="1188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240"/>
                </a:solidFill>
              </a:rPr>
              <a:t>нашёл вас на картах</a:t>
            </a:r>
            <a:endParaRPr lang="en-US" sz="1400" dirty="0"/>
          </a:p>
        </p:txBody>
      </p:sp>
      <p:sp>
        <p:nvSpPr>
          <p:cNvPr id="8" name="Воронка — Заинтересовался"/>
          <p:cNvSpPr/>
          <p:nvPr/>
        </p:nvSpPr>
        <p:spPr>
          <a:xfrm>
            <a:off x="891540" y="1847088"/>
            <a:ext cx="4069080" cy="548640"/>
          </a:xfrm>
          <a:prstGeom prst="roundRect">
            <a:avLst>
              <a:gd name="adj" fmla="val 500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9" name="Воронка — Заинтересовался — текст"/>
          <p:cNvSpPr txBox="1"/>
          <p:nvPr/>
        </p:nvSpPr>
        <p:spPr>
          <a:xfrm>
            <a:off x="891540" y="184708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Заинтересовался</a:t>
            </a:r>
            <a:endParaRPr lang="en-US" sz="1500" dirty="0"/>
          </a:p>
        </p:txBody>
      </p:sp>
      <p:sp>
        <p:nvSpPr>
          <p:cNvPr id="10" name="Воронка — Заинтересовался — пояснение"/>
          <p:cNvSpPr txBox="1"/>
          <p:nvPr/>
        </p:nvSpPr>
        <p:spPr>
          <a:xfrm>
            <a:off x="5577840" y="184708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240"/>
                </a:solidFill>
              </a:rPr>
              <a:t>прочитал отзывы и цены</a:t>
            </a:r>
            <a:endParaRPr lang="en-US" sz="1400" dirty="0"/>
          </a:p>
        </p:txBody>
      </p:sp>
      <p:sp>
        <p:nvSpPr>
          <p:cNvPr id="11" name="Воронка — Обратился"/>
          <p:cNvSpPr/>
          <p:nvPr/>
        </p:nvSpPr>
        <p:spPr>
          <a:xfrm>
            <a:off x="1234440" y="2505456"/>
            <a:ext cx="3383280" cy="548640"/>
          </a:xfrm>
          <a:prstGeom prst="roundRect">
            <a:avLst>
              <a:gd name="adj" fmla="val 50000"/>
            </a:avLst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12" name="Воронка — Обратился — текст"/>
          <p:cNvSpPr txBox="1"/>
          <p:nvPr/>
        </p:nvSpPr>
        <p:spPr>
          <a:xfrm>
            <a:off x="1234440" y="250545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240"/>
                </a:solidFill>
              </a:rPr>
              <a:t>Обратился</a:t>
            </a:r>
            <a:endParaRPr lang="en-US" sz="1500" dirty="0"/>
          </a:p>
        </p:txBody>
      </p:sp>
      <p:sp>
        <p:nvSpPr>
          <p:cNvPr id="13" name="Воронка — Обратился — пояснение"/>
          <p:cNvSpPr txBox="1"/>
          <p:nvPr/>
        </p:nvSpPr>
        <p:spPr>
          <a:xfrm>
            <a:off x="5577840" y="250545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240"/>
                </a:solidFill>
              </a:rPr>
              <a:t>написал или позвонил</a:t>
            </a:r>
            <a:endParaRPr lang="en-US" sz="1400" dirty="0"/>
          </a:p>
        </p:txBody>
      </p:sp>
      <p:sp>
        <p:nvSpPr>
          <p:cNvPr id="14" name="Воронка — Купил"/>
          <p:cNvSpPr/>
          <p:nvPr/>
        </p:nvSpPr>
        <p:spPr>
          <a:xfrm>
            <a:off x="1577340" y="3163824"/>
            <a:ext cx="2697480" cy="548640"/>
          </a:xfrm>
          <a:prstGeom prst="roundRect">
            <a:avLst>
              <a:gd name="adj" fmla="val 50000"/>
            </a:avLst>
          </a:prstGeom>
          <a:solidFill>
            <a:srgbClr val="19C3A6"/>
          </a:solidFill>
          <a:ln w="12700">
            <a:solidFill>
              <a:srgbClr val="19C3A6"/>
            </a:solidFill>
            <a:prstDash val="solid"/>
          </a:ln>
        </p:spPr>
      </p:sp>
      <p:sp>
        <p:nvSpPr>
          <p:cNvPr id="15" name="Воронка — Купил — текст"/>
          <p:cNvSpPr txBox="1"/>
          <p:nvPr/>
        </p:nvSpPr>
        <p:spPr>
          <a:xfrm>
            <a:off x="1577340" y="3163824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Купил</a:t>
            </a:r>
            <a:endParaRPr lang="en-US" sz="1500" dirty="0"/>
          </a:p>
        </p:txBody>
      </p:sp>
      <p:sp>
        <p:nvSpPr>
          <p:cNvPr id="16" name="Воронка — Купил — пояснение"/>
          <p:cNvSpPr txBox="1"/>
          <p:nvPr/>
        </p:nvSpPr>
        <p:spPr>
          <a:xfrm>
            <a:off x="5577840" y="316382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240"/>
                </a:solidFill>
              </a:rPr>
              <a:t>получил то, что ждал</a:t>
            </a:r>
            <a:endParaRPr lang="en-US" sz="1400" dirty="0"/>
          </a:p>
        </p:txBody>
      </p:sp>
      <p:sp>
        <p:nvSpPr>
          <p:cNvPr id="17" name="Воронка — Вернулся"/>
          <p:cNvSpPr/>
          <p:nvPr/>
        </p:nvSpPr>
        <p:spPr>
          <a:xfrm>
            <a:off x="1920240" y="3822192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6C4DFF"/>
          </a:solidFill>
          <a:ln w="12700">
            <a:solidFill>
              <a:srgbClr val="6C4DFF"/>
            </a:solidFill>
            <a:prstDash val="solid"/>
          </a:ln>
        </p:spPr>
      </p:sp>
      <p:sp>
        <p:nvSpPr>
          <p:cNvPr id="18" name="Воронка — Вернулся — текст"/>
          <p:cNvSpPr txBox="1"/>
          <p:nvPr/>
        </p:nvSpPr>
        <p:spPr>
          <a:xfrm>
            <a:off x="1920240" y="382219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Вернулся</a:t>
            </a:r>
            <a:endParaRPr lang="en-US" sz="1500" dirty="0"/>
          </a:p>
        </p:txBody>
      </p:sp>
      <p:sp>
        <p:nvSpPr>
          <p:cNvPr id="19" name="Воронка — Вернулся — пояснение"/>
          <p:cNvSpPr txBox="1"/>
          <p:nvPr/>
        </p:nvSpPr>
        <p:spPr>
          <a:xfrm>
            <a:off x="5577840" y="382219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240"/>
                </a:solidFill>
              </a:rPr>
              <a:t>пришёл снова и привёл друга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шага"/>
          <p:cNvSpPr/>
          <p:nvPr/>
        </p:nvSpPr>
        <p:spPr>
          <a:xfrm>
            <a:off x="548640" y="109728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2E8BFF"/>
          </a:solidFill>
          <a:ln w="12700">
            <a:solidFill>
              <a:srgbClr val="2E8BFF"/>
            </a:solidFill>
            <a:prstDash val="solid"/>
          </a:ln>
        </p:spPr>
      </p:sp>
      <p:sp>
        <p:nvSpPr>
          <p:cNvPr id="3" name="Метка шага — текст"/>
          <p:cNvSpPr txBox="1"/>
          <p:nvPr/>
        </p:nvSpPr>
        <p:spPr>
          <a:xfrm>
            <a:off x="548640" y="1097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ШАГ 5 ИЗ 5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Считайте, откуда приходят клиенты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143000"/>
          <a:ext cx="51206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Вывод по цифрам"/>
          <p:cNvSpPr/>
          <p:nvPr/>
        </p:nvSpPr>
        <p:spPr>
          <a:xfrm>
            <a:off x="5943600" y="1143000"/>
            <a:ext cx="2651760" cy="3429000"/>
          </a:xfrm>
          <a:prstGeom prst="roundRect">
            <a:avLst>
              <a:gd name="adj" fmla="val 4138"/>
            </a:avLst>
          </a:prstGeom>
          <a:solidFill>
            <a:srgbClr val="1C1240"/>
          </a:solidFill>
          <a:ln w="12700">
            <a:solidFill>
              <a:srgbClr val="1C1240"/>
            </a:solidFill>
            <a:prstDash val="solid"/>
          </a:ln>
          <a:effectLst>
            <a:outerShdw sx="100000" sy="100000" kx="0" ky="0" algn="bl" rotWithShape="0" blurRad="101600" dist="38100" dir="5400000">
              <a:srgbClr val="1C1240">
                <a:alpha val="12000"/>
              </a:srgbClr>
            </a:outerShdw>
          </a:effectLst>
        </p:spPr>
      </p:sp>
      <p:sp>
        <p:nvSpPr>
          <p:cNvPr id="7" name="Иконка графика — круг"/>
          <p:cNvSpPr/>
          <p:nvPr/>
        </p:nvSpPr>
        <p:spPr>
          <a:xfrm>
            <a:off x="6172200" y="1371600"/>
            <a:ext cx="685800" cy="685800"/>
          </a:xfrm>
          <a:prstGeom prst="ellipse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pic>
        <p:nvPicPr>
          <p:cNvPr id="8" name="Иконка графика" descr="Иконка график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508" y="1549908"/>
            <a:ext cx="329184" cy="329184"/>
          </a:xfrm>
          <a:prstGeom prst="rect">
            <a:avLst/>
          </a:prstGeom>
        </p:spPr>
      </p:pic>
      <p:sp>
        <p:nvSpPr>
          <p:cNvPr id="9" name="Совет — заголовок"/>
          <p:cNvSpPr txBox="1"/>
          <p:nvPr/>
        </p:nvSpPr>
        <p:spPr>
          <a:xfrm>
            <a:off x="6172200" y="21945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Спрашивайте каждого клиента: «Как вы нас нашли?»</a:t>
            </a:r>
            <a:endParaRPr lang="en-US" sz="1600" dirty="0"/>
          </a:p>
        </p:txBody>
      </p:sp>
      <p:sp>
        <p:nvSpPr>
          <p:cNvPr id="10" name="Совет — текст"/>
          <p:cNvSpPr txBox="1"/>
          <p:nvPr/>
        </p:nvSpPr>
        <p:spPr>
          <a:xfrm>
            <a:off x="6172200" y="32461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C2F0"/>
                </a:solidFill>
              </a:rPr>
              <a:t>Через месяц станет видно, какой канал работает, а на какой жалко тратить время.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Частые ошибки и как надо</a:t>
            </a:r>
            <a:endParaRPr lang="en-US" sz="2600" dirty="0"/>
          </a:p>
        </p:txBody>
      </p:sp>
      <p:sp>
        <p:nvSpPr>
          <p:cNvPr id="3" name="Колонка «ошибки»"/>
          <p:cNvSpPr/>
          <p:nvPr/>
        </p:nvSpPr>
        <p:spPr>
          <a:xfrm>
            <a:off x="548640" y="1188720"/>
            <a:ext cx="393192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1C1240">
                <a:alpha val="12000"/>
              </a:srgbClr>
            </a:outerShdw>
          </a:effectLst>
        </p:spPr>
      </p:sp>
      <p:sp>
        <p:nvSpPr>
          <p:cNvPr id="4" name="Колонка «как надо»"/>
          <p:cNvSpPr/>
          <p:nvPr/>
        </p:nvSpPr>
        <p:spPr>
          <a:xfrm>
            <a:off x="4663440" y="1188720"/>
            <a:ext cx="393192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1C1240">
                <a:alpha val="12000"/>
              </a:srgbClr>
            </a:outerShdw>
          </a:effectLst>
        </p:spPr>
      </p:sp>
      <p:sp>
        <p:nvSpPr>
          <p:cNvPr id="5" name="Иконка ошибки — круг"/>
          <p:cNvSpPr/>
          <p:nvPr/>
        </p:nvSpPr>
        <p:spPr>
          <a:xfrm>
            <a:off x="731520" y="1325880"/>
            <a:ext cx="457200" cy="457200"/>
          </a:xfrm>
          <a:prstGeom prst="ellipse">
            <a:avLst/>
          </a:prstGeom>
          <a:solidFill>
            <a:srgbClr val="FF4F6E"/>
          </a:solidFill>
          <a:ln w="12700">
            <a:solidFill>
              <a:srgbClr val="FF4F6E"/>
            </a:solidFill>
            <a:prstDash val="solid"/>
          </a:ln>
        </p:spPr>
      </p:sp>
      <p:pic>
        <p:nvPicPr>
          <p:cNvPr id="6" name="Иконка ошибки" descr="Иконка ошибк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444752"/>
            <a:ext cx="219456" cy="219456"/>
          </a:xfrm>
          <a:prstGeom prst="rect">
            <a:avLst/>
          </a:prstGeom>
        </p:spPr>
      </p:pic>
      <p:sp>
        <p:nvSpPr>
          <p:cNvPr id="7" name="Заголовок ошибок"/>
          <p:cNvSpPr txBox="1"/>
          <p:nvPr/>
        </p:nvSpPr>
        <p:spPr>
          <a:xfrm>
            <a:off x="1280160" y="1325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4F6E"/>
                </a:solidFill>
              </a:rPr>
              <a:t>Ошибка</a:t>
            </a:r>
            <a:endParaRPr lang="en-US" sz="1700" dirty="0"/>
          </a:p>
        </p:txBody>
      </p:sp>
      <p:sp>
        <p:nvSpPr>
          <p:cNvPr id="8" name="Иконка «как надо» — круг"/>
          <p:cNvSpPr/>
          <p:nvPr/>
        </p:nvSpPr>
        <p:spPr>
          <a:xfrm>
            <a:off x="4846320" y="1325880"/>
            <a:ext cx="457200" cy="457200"/>
          </a:xfrm>
          <a:prstGeom prst="ellipse">
            <a:avLst/>
          </a:prstGeom>
          <a:solidFill>
            <a:srgbClr val="19C3A6"/>
          </a:solidFill>
          <a:ln w="12700">
            <a:solidFill>
              <a:srgbClr val="19C3A6"/>
            </a:solidFill>
            <a:prstDash val="solid"/>
          </a:ln>
        </p:spPr>
      </p:sp>
      <p:pic>
        <p:nvPicPr>
          <p:cNvPr id="9" name="Иконка «как надо»" descr="Иконка «как надо»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444752"/>
            <a:ext cx="219456" cy="219456"/>
          </a:xfrm>
          <a:prstGeom prst="rect">
            <a:avLst/>
          </a:prstGeom>
        </p:spPr>
      </p:pic>
      <p:sp>
        <p:nvSpPr>
          <p:cNvPr id="10" name="Заголовок «как надо»"/>
          <p:cNvSpPr txBox="1"/>
          <p:nvPr/>
        </p:nvSpPr>
        <p:spPr>
          <a:xfrm>
            <a:off x="5394960" y="1325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C3A6"/>
                </a:solidFill>
              </a:rPr>
              <a:t>Как надо</a:t>
            </a:r>
            <a:endParaRPr lang="en-US" sz="1700" dirty="0"/>
          </a:p>
        </p:txBody>
      </p:sp>
      <p:sp>
        <p:nvSpPr>
          <p:cNvPr id="11" name="Ошибка 1"/>
          <p:cNvSpPr txBox="1"/>
          <p:nvPr/>
        </p:nvSpPr>
        <p:spPr>
          <a:xfrm>
            <a:off x="777240" y="19659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240"/>
                </a:solidFill>
              </a:rPr>
              <a:t>Реклама «для всех»</a:t>
            </a:r>
            <a:endParaRPr lang="en-US" sz="1500" dirty="0"/>
          </a:p>
        </p:txBody>
      </p:sp>
      <p:sp>
        <p:nvSpPr>
          <p:cNvPr id="12" name="Как надо 1"/>
          <p:cNvSpPr txBox="1"/>
          <p:nvPr/>
        </p:nvSpPr>
        <p:spPr>
          <a:xfrm>
            <a:off x="4892040" y="19659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240"/>
                </a:solidFill>
              </a:rPr>
              <a:t>Сообщение для одного понятного клиента</a:t>
            </a:r>
            <a:endParaRPr lang="en-US" sz="1500" dirty="0"/>
          </a:p>
        </p:txBody>
      </p:sp>
      <p:sp>
        <p:nvSpPr>
          <p:cNvPr id="13" name="Ошибка 2"/>
          <p:cNvSpPr txBox="1"/>
          <p:nvPr/>
        </p:nvSpPr>
        <p:spPr>
          <a:xfrm>
            <a:off x="777240" y="26060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240"/>
                </a:solidFill>
              </a:rPr>
              <a:t>Все соцсети сразу</a:t>
            </a:r>
            <a:endParaRPr lang="en-US" sz="1500" dirty="0"/>
          </a:p>
        </p:txBody>
      </p:sp>
      <p:sp>
        <p:nvSpPr>
          <p:cNvPr id="14" name="Как надо 2"/>
          <p:cNvSpPr txBox="1"/>
          <p:nvPr/>
        </p:nvSpPr>
        <p:spPr>
          <a:xfrm>
            <a:off x="4892040" y="26060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240"/>
                </a:solidFill>
              </a:rPr>
              <a:t>Два канала, но регулярно</a:t>
            </a:r>
            <a:endParaRPr lang="en-US" sz="1500" dirty="0"/>
          </a:p>
        </p:txBody>
      </p:sp>
      <p:sp>
        <p:nvSpPr>
          <p:cNvPr id="15" name="Ошибка 3"/>
          <p:cNvSpPr txBox="1"/>
          <p:nvPr/>
        </p:nvSpPr>
        <p:spPr>
          <a:xfrm>
            <a:off x="777240" y="32461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240"/>
                </a:solidFill>
              </a:rPr>
              <a:t>Скидки вместо ценности</a:t>
            </a:r>
            <a:endParaRPr lang="en-US" sz="1500" dirty="0"/>
          </a:p>
        </p:txBody>
      </p:sp>
      <p:sp>
        <p:nvSpPr>
          <p:cNvPr id="16" name="Как надо 3"/>
          <p:cNvSpPr txBox="1"/>
          <p:nvPr/>
        </p:nvSpPr>
        <p:spPr>
          <a:xfrm>
            <a:off x="4892040" y="32461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240"/>
                </a:solidFill>
              </a:rPr>
              <a:t>Объяснить, за что платят</a:t>
            </a:r>
            <a:endParaRPr lang="en-US" sz="1500" dirty="0"/>
          </a:p>
        </p:txBody>
      </p:sp>
      <p:sp>
        <p:nvSpPr>
          <p:cNvPr id="17" name="Ошибка 4"/>
          <p:cNvSpPr txBox="1"/>
          <p:nvPr/>
        </p:nvSpPr>
        <p:spPr>
          <a:xfrm>
            <a:off x="777240" y="38862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240"/>
                </a:solidFill>
              </a:rPr>
              <a:t>«Потом посчитаем»</a:t>
            </a:r>
            <a:endParaRPr lang="en-US" sz="1500" dirty="0"/>
          </a:p>
        </p:txBody>
      </p:sp>
      <p:sp>
        <p:nvSpPr>
          <p:cNvPr id="18" name="Как надо 4"/>
          <p:cNvSpPr txBox="1"/>
          <p:nvPr/>
        </p:nvSpPr>
        <p:spPr>
          <a:xfrm>
            <a:off x="4892040" y="38862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240"/>
                </a:solidFill>
              </a:rPr>
              <a:t>Записывать источник каждой заявки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 чего начать уже завтра</a:t>
            </a:r>
            <a:endParaRPr lang="en-US" sz="3000" dirty="0"/>
          </a:p>
        </p:txBody>
      </p:sp>
      <p:sp>
        <p:nvSpPr>
          <p:cNvPr id="3" name="Задача 1 — круг"/>
          <p:cNvSpPr/>
          <p:nvPr/>
        </p:nvSpPr>
        <p:spPr>
          <a:xfrm>
            <a:off x="548640" y="1417320"/>
            <a:ext cx="512064" cy="512064"/>
          </a:xfrm>
          <a:prstGeom prst="ellipse">
            <a:avLst/>
          </a:prstGeom>
          <a:solidFill>
            <a:srgbClr val="FF4F6E"/>
          </a:solidFill>
          <a:ln w="12700">
            <a:solidFill>
              <a:srgbClr val="FF4F6E"/>
            </a:solidFill>
            <a:prstDash val="solid"/>
          </a:ln>
        </p:spPr>
      </p:sp>
      <p:sp>
        <p:nvSpPr>
          <p:cNvPr id="4" name="Задача 1 — номер"/>
          <p:cNvSpPr txBox="1"/>
          <p:nvPr/>
        </p:nvSpPr>
        <p:spPr>
          <a:xfrm>
            <a:off x="548640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Задача 1"/>
          <p:cNvSpPr txBox="1"/>
          <p:nvPr/>
        </p:nvSpPr>
        <p:spPr>
          <a:xfrm>
            <a:off x="1280160" y="1417320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Опишите одного клиента на полстраницы</a:t>
            </a:r>
            <a:endParaRPr lang="en-US" sz="1700" dirty="0"/>
          </a:p>
        </p:txBody>
      </p:sp>
      <p:sp>
        <p:nvSpPr>
          <p:cNvPr id="6" name="Задача 2 — круг"/>
          <p:cNvSpPr/>
          <p:nvPr/>
        </p:nvSpPr>
        <p:spPr>
          <a:xfrm>
            <a:off x="548640" y="2130552"/>
            <a:ext cx="512064" cy="512064"/>
          </a:xfrm>
          <a:prstGeom prst="ellipse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7" name="Задача 2 — номер"/>
          <p:cNvSpPr txBox="1"/>
          <p:nvPr/>
        </p:nvSpPr>
        <p:spPr>
          <a:xfrm>
            <a:off x="548640" y="21305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2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Задача 2"/>
          <p:cNvSpPr txBox="1"/>
          <p:nvPr/>
        </p:nvSpPr>
        <p:spPr>
          <a:xfrm>
            <a:off x="1280160" y="2130552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Напишите УТП и проверьте его «на конкуренте»</a:t>
            </a:r>
            <a:endParaRPr lang="en-US" sz="1700" dirty="0"/>
          </a:p>
        </p:txBody>
      </p:sp>
      <p:sp>
        <p:nvSpPr>
          <p:cNvPr id="9" name="Задача 3 — круг"/>
          <p:cNvSpPr/>
          <p:nvPr/>
        </p:nvSpPr>
        <p:spPr>
          <a:xfrm>
            <a:off x="548640" y="2843784"/>
            <a:ext cx="512064" cy="512064"/>
          </a:xfrm>
          <a:prstGeom prst="ellipse">
            <a:avLst/>
          </a:prstGeom>
          <a:solidFill>
            <a:srgbClr val="19C3A6"/>
          </a:solidFill>
          <a:ln w="12700">
            <a:solidFill>
              <a:srgbClr val="19C3A6"/>
            </a:solidFill>
            <a:prstDash val="solid"/>
          </a:ln>
        </p:spPr>
      </p:sp>
      <p:sp>
        <p:nvSpPr>
          <p:cNvPr id="10" name="Задача 3 — номер"/>
          <p:cNvSpPr txBox="1"/>
          <p:nvPr/>
        </p:nvSpPr>
        <p:spPr>
          <a:xfrm>
            <a:off x="548640" y="28437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Задача 3"/>
          <p:cNvSpPr txBox="1"/>
          <p:nvPr/>
        </p:nvSpPr>
        <p:spPr>
          <a:xfrm>
            <a:off x="1280160" y="2843784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Заполните карточку на Яндекс Картах</a:t>
            </a:r>
            <a:endParaRPr lang="en-US" sz="1700" dirty="0"/>
          </a:p>
        </p:txBody>
      </p:sp>
      <p:sp>
        <p:nvSpPr>
          <p:cNvPr id="12" name="Задача 4 — круг"/>
          <p:cNvSpPr/>
          <p:nvPr/>
        </p:nvSpPr>
        <p:spPr>
          <a:xfrm>
            <a:off x="548640" y="3557016"/>
            <a:ext cx="512064" cy="512064"/>
          </a:xfrm>
          <a:prstGeom prst="ellipse">
            <a:avLst/>
          </a:prstGeom>
          <a:solidFill>
            <a:srgbClr val="6C4DFF"/>
          </a:solidFill>
          <a:ln w="12700">
            <a:solidFill>
              <a:srgbClr val="6C4DFF"/>
            </a:solidFill>
            <a:prstDash val="solid"/>
          </a:ln>
        </p:spPr>
      </p:sp>
      <p:sp>
        <p:nvSpPr>
          <p:cNvPr id="13" name="Задача 4 — номер"/>
          <p:cNvSpPr txBox="1"/>
          <p:nvPr/>
        </p:nvSpPr>
        <p:spPr>
          <a:xfrm>
            <a:off x="548640" y="35570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Задача 4"/>
          <p:cNvSpPr txBox="1"/>
          <p:nvPr/>
        </p:nvSpPr>
        <p:spPr>
          <a:xfrm>
            <a:off x="1280160" y="3557016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Заведите таблицу «откуда пришёл клиент»</a:t>
            </a:r>
            <a:endParaRPr lang="en-US" sz="1700" dirty="0"/>
          </a:p>
        </p:txBody>
      </p:sp>
      <p:sp>
        <p:nvSpPr>
          <p:cNvPr id="15" name="Круг вопросов"/>
          <p:cNvSpPr/>
          <p:nvPr/>
        </p:nvSpPr>
        <p:spPr>
          <a:xfrm>
            <a:off x="6675120" y="1463040"/>
            <a:ext cx="1920240" cy="1920240"/>
          </a:xfrm>
          <a:prstGeom prst="ellipse">
            <a:avLst/>
          </a:prstGeom>
          <a:solidFill>
            <a:srgbClr val="FF4F6E"/>
          </a:solidFill>
          <a:ln w="12700">
            <a:solidFill>
              <a:srgbClr val="FF4F6E"/>
            </a:solidFill>
            <a:prstDash val="solid"/>
          </a:ln>
        </p:spPr>
      </p:sp>
      <p:sp>
        <p:nvSpPr>
          <p:cNvPr id="16" name="Вопросы"/>
          <p:cNvSpPr txBox="1"/>
          <p:nvPr/>
        </p:nvSpPr>
        <p:spPr>
          <a:xfrm>
            <a:off x="6675120" y="146304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Вопросы?</a:t>
            </a:r>
            <a:endParaRPr lang="en-US" sz="2000" dirty="0"/>
          </a:p>
        </p:txBody>
      </p:sp>
      <p:sp>
        <p:nvSpPr>
          <p:cNvPr id="17" name="Благодарность"/>
          <p:cNvSpPr txBox="1"/>
          <p:nvPr/>
        </p:nvSpPr>
        <p:spPr>
          <a:xfrm>
            <a:off x="6309360" y="3611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C2F0"/>
                </a:solidFill>
              </a:rPr>
              <a:t>Спасибо за внимание!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Яркий маркетинг">
  <a:themeElements>
    <a:clrScheme name="Яркий маркетинг">
      <a:dk1>
        <a:srgbClr val="1C1240"/>
      </a:dk1>
      <a:lt1>
        <a:srgbClr val="FFFFFF"/>
      </a:lt1>
      <a:dk2>
        <a:srgbClr val="4A4466"/>
      </a:dk2>
      <a:lt2>
        <a:srgbClr val="F4F1FF"/>
      </a:lt2>
      <a:accent1>
        <a:srgbClr val="FF4F6E"/>
      </a:accent1>
      <a:accent2>
        <a:srgbClr val="FFC531"/>
      </a:accent2>
      <a:accent3>
        <a:srgbClr val="19C3A6"/>
      </a:accent3>
      <a:accent4>
        <a:srgbClr val="6C4DFF"/>
      </a:accent4>
      <a:accent5>
        <a:srgbClr val="2E8BFF"/>
      </a:accent5>
      <a:accent6>
        <a:srgbClr val="FF8A3D"/>
      </a:accent6>
      <a:hlink>
        <a:srgbClr val="6C4DFF"/>
      </a:hlink>
      <a:folHlink>
        <a:srgbClr val="4A4466"/>
      </a:folHlink>
    </a:clrScheme>
    <a:fontScheme name="Яркий маркетинг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Маркетинг для малого бизнеса: 5 шагов к первым клиентам</dc:title>
  <dc:subject>PptxGenJS Presentation</dc:subject>
  <dc:creator>Ирина Шушкова</dc:creator>
  <cp:lastModifiedBy>Ирина Шушкова</cp:lastModifiedBy>
  <cp:revision>1</cp:revision>
  <dcterms:created xsi:type="dcterms:W3CDTF">2026-10-26T15:11:16Z</dcterms:created>
  <dcterms:modified xsi:type="dcterms:W3CDTF">2026-10-26T15:11:16Z</dcterms:modified>
</cp:coreProperties>
</file>